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776" r:id="rId2"/>
    <p:sldId id="867" r:id="rId3"/>
    <p:sldId id="855" r:id="rId4"/>
    <p:sldId id="858" r:id="rId5"/>
    <p:sldId id="859" r:id="rId6"/>
    <p:sldId id="860" r:id="rId7"/>
    <p:sldId id="774" r:id="rId8"/>
    <p:sldId id="775" r:id="rId9"/>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8"/>
    <p:restoredTop sz="94669"/>
  </p:normalViewPr>
  <p:slideViewPr>
    <p:cSldViewPr snapToGrid="0">
      <p:cViewPr varScale="1">
        <p:scale>
          <a:sx n="68" d="100"/>
          <a:sy n="68" d="100"/>
        </p:scale>
        <p:origin x="208" y="1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2D36CF-01BD-FC46-80A5-855B206312C6}" type="datetimeFigureOut">
              <a:rPr lang="en-CN" smtClean="0"/>
              <a:t>2026/5/12</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7E0F28-3F87-2C49-9DBA-893776B3EB72}" type="slidenum">
              <a:rPr lang="en-CN" smtClean="0"/>
              <a:t>‹#›</a:t>
            </a:fld>
            <a:endParaRPr lang="en-CN"/>
          </a:p>
        </p:txBody>
      </p:sp>
    </p:spTree>
    <p:extLst>
      <p:ext uri="{BB962C8B-B14F-4D97-AF65-F5344CB8AC3E}">
        <p14:creationId xmlns:p14="http://schemas.microsoft.com/office/powerpoint/2010/main" val="1609526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3A43DDB-C26F-4E0B-ABDE-A7EA698CA0A0}" type="slidenum">
              <a:rPr lang="en-SG" smtClean="0"/>
              <a:t>2</a:t>
            </a:fld>
            <a:endParaRPr lang="en-SG"/>
          </a:p>
        </p:txBody>
      </p:sp>
    </p:spTree>
    <p:extLst>
      <p:ext uri="{BB962C8B-B14F-4D97-AF65-F5344CB8AC3E}">
        <p14:creationId xmlns:p14="http://schemas.microsoft.com/office/powerpoint/2010/main" val="124139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43A43DDB-C26F-4E0B-ABDE-A7EA698CA0A0}" type="slidenum">
              <a:rPr lang="en-SG" smtClean="0"/>
              <a:t>3</a:t>
            </a:fld>
            <a:endParaRPr lang="en-SG"/>
          </a:p>
        </p:txBody>
      </p:sp>
    </p:spTree>
    <p:extLst>
      <p:ext uri="{BB962C8B-B14F-4D97-AF65-F5344CB8AC3E}">
        <p14:creationId xmlns:p14="http://schemas.microsoft.com/office/powerpoint/2010/main" val="3240921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59CEA-3988-E03D-597A-FD197A9F78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E9B38D8E-6B6C-B86B-435D-5B789825AC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2844C6AB-9A31-1A5B-EC1C-EC0BB2505685}"/>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5" name="Footer Placeholder 4">
            <a:extLst>
              <a:ext uri="{FF2B5EF4-FFF2-40B4-BE49-F238E27FC236}">
                <a16:creationId xmlns:a16="http://schemas.microsoft.com/office/drawing/2014/main" id="{710AA2DE-F9FE-5FEA-47B8-5EA5E7B13CE8}"/>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4A2D9A3F-9CD7-BF5C-16DC-B5B2596CDB2A}"/>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1309287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445D-3171-AC7D-E902-AE771A6359C6}"/>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CDED4F83-A4F1-375C-DBE5-6A3A0624A6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336AFC56-E186-A74D-6CCF-1DF227633917}"/>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5" name="Footer Placeholder 4">
            <a:extLst>
              <a:ext uri="{FF2B5EF4-FFF2-40B4-BE49-F238E27FC236}">
                <a16:creationId xmlns:a16="http://schemas.microsoft.com/office/drawing/2014/main" id="{EE82CAF6-8424-687C-CEE8-5CF7AC3C10FB}"/>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C38F5581-7853-0609-4EAE-D4D6DC24B9BD}"/>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1036967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BDD8-1885-F29D-E2EE-27A70CD0C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5CE2E513-A5D3-35B3-BC69-D9FCB0EF7E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91C615-C9F1-D96A-2310-A5812FF2864D}"/>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5" name="Footer Placeholder 4">
            <a:extLst>
              <a:ext uri="{FF2B5EF4-FFF2-40B4-BE49-F238E27FC236}">
                <a16:creationId xmlns:a16="http://schemas.microsoft.com/office/drawing/2014/main" id="{B2BDEC69-D76F-A310-076E-6B4E07029462}"/>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EE9652D2-BAE6-0198-4739-DA33F1FA0F36}"/>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623256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C4CB1-FD83-B14A-BDA6-423030596555}"/>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24062BED-1EE3-E796-BCD9-DF222DF728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91EF92FB-B738-04C3-4390-80543AA1BA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06935CA0-6A5E-9B87-502F-3F2F09239858}"/>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6" name="Footer Placeholder 5">
            <a:extLst>
              <a:ext uri="{FF2B5EF4-FFF2-40B4-BE49-F238E27FC236}">
                <a16:creationId xmlns:a16="http://schemas.microsoft.com/office/drawing/2014/main" id="{28C6073E-F83F-7750-A99D-E511A0600F2A}"/>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4C426792-5893-4BAE-726D-4B38F8CC2B95}"/>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2029031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5D297-262A-76E8-0B80-8F28138F2265}"/>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87E78FA2-68C9-0903-22E8-0026EB7760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0C7C21-AC78-C9BD-A66F-4829B9206E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761348AB-BC8C-E8CF-4372-6CC92B4A98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0B35A0-BD08-F089-A148-2C7722EE8E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B1761659-F042-B4D7-1F62-3BD49BD90E46}"/>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8" name="Footer Placeholder 7">
            <a:extLst>
              <a:ext uri="{FF2B5EF4-FFF2-40B4-BE49-F238E27FC236}">
                <a16:creationId xmlns:a16="http://schemas.microsoft.com/office/drawing/2014/main" id="{E73E4F21-96F8-A19C-FF2C-72D78B18D8F1}"/>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B893D030-1DAC-7E34-222A-722786B0CB9D}"/>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350722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94AE6-77D7-09F8-23F3-872391C683B2}"/>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D14C0F7-C78F-3545-C595-9AFD98B0FF9E}"/>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4" name="Footer Placeholder 3">
            <a:extLst>
              <a:ext uri="{FF2B5EF4-FFF2-40B4-BE49-F238E27FC236}">
                <a16:creationId xmlns:a16="http://schemas.microsoft.com/office/drawing/2014/main" id="{62EFBC89-D203-734F-7B29-C52D7AE2DAA8}"/>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ED161BEE-BF5B-C2AA-4B14-27100CDE7112}"/>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4062894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7A3107-664C-8AE3-E8C6-5E125FF166C3}"/>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3" name="Footer Placeholder 2">
            <a:extLst>
              <a:ext uri="{FF2B5EF4-FFF2-40B4-BE49-F238E27FC236}">
                <a16:creationId xmlns:a16="http://schemas.microsoft.com/office/drawing/2014/main" id="{980FDCF7-1DB9-393B-F7F9-D5EA3EA44E82}"/>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3DCADD1E-F69C-10DB-3313-B356DD0BEDE0}"/>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1412542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AA154-2C1B-6927-C98F-2D8B098740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FE0443D0-DD22-684B-3E38-20B1F30748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1E8EAC8C-FD4E-8A98-410A-21F7395E49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C4667E-C8F4-D155-7D83-D11EF0313477}"/>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6" name="Footer Placeholder 5">
            <a:extLst>
              <a:ext uri="{FF2B5EF4-FFF2-40B4-BE49-F238E27FC236}">
                <a16:creationId xmlns:a16="http://schemas.microsoft.com/office/drawing/2014/main" id="{CC129EB7-45C6-B55C-938B-B5B51D36B75A}"/>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8A48E0B5-AE7E-E3A9-6495-D7E00AF0EF76}"/>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1291845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AE27F-E2B0-8BBD-4E1F-885F2958E7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B1D1F4DE-F201-9A01-F9FC-CA94C38547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7F254102-8880-097B-DB71-AD8E1AFF72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77281A-4A94-5F1D-C766-F3FACE86F3E9}"/>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6" name="Footer Placeholder 5">
            <a:extLst>
              <a:ext uri="{FF2B5EF4-FFF2-40B4-BE49-F238E27FC236}">
                <a16:creationId xmlns:a16="http://schemas.microsoft.com/office/drawing/2014/main" id="{F2F0BC28-F62D-59B9-43F4-052DCF50272A}"/>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AD718FD8-1B00-A9CA-9805-D865C47690E0}"/>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3767165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A5D1B-B0F7-024C-8E33-470C6159AFCA}"/>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F81C5911-0882-86A7-6651-3CD4D68AA1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8351D2F6-405F-0CB7-FEC0-C47EA3B8C4AA}"/>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5" name="Footer Placeholder 4">
            <a:extLst>
              <a:ext uri="{FF2B5EF4-FFF2-40B4-BE49-F238E27FC236}">
                <a16:creationId xmlns:a16="http://schemas.microsoft.com/office/drawing/2014/main" id="{4638228B-E664-CC4B-3190-28014C338E0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585F9E3-31FC-41DC-DA7B-07F2E9A84C46}"/>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341398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75C001-7552-2CB4-A828-5CA8638E72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5BAE120B-5BA8-733D-77AC-3339AC065B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C661A74C-49BA-B7BF-90CF-D4E4A7541486}"/>
              </a:ext>
            </a:extLst>
          </p:cNvPr>
          <p:cNvSpPr>
            <a:spLocks noGrp="1"/>
          </p:cNvSpPr>
          <p:nvPr>
            <p:ph type="dt" sz="half" idx="10"/>
          </p:nvPr>
        </p:nvSpPr>
        <p:spPr/>
        <p:txBody>
          <a:bodyPr/>
          <a:lstStyle/>
          <a:p>
            <a:fld id="{971D11D0-0B76-6748-AC15-13FEA36495D2}" type="datetimeFigureOut">
              <a:rPr lang="en-CN" smtClean="0"/>
              <a:t>2026/5/12</a:t>
            </a:fld>
            <a:endParaRPr lang="en-CN"/>
          </a:p>
        </p:txBody>
      </p:sp>
      <p:sp>
        <p:nvSpPr>
          <p:cNvPr id="5" name="Footer Placeholder 4">
            <a:extLst>
              <a:ext uri="{FF2B5EF4-FFF2-40B4-BE49-F238E27FC236}">
                <a16:creationId xmlns:a16="http://schemas.microsoft.com/office/drawing/2014/main" id="{55022C35-A3FE-5F73-DB37-C44C46B10CAE}"/>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55748B55-6799-DD09-E770-9DA084B9B00C}"/>
              </a:ext>
            </a:extLst>
          </p:cNvPr>
          <p:cNvSpPr>
            <a:spLocks noGrp="1"/>
          </p:cNvSpPr>
          <p:nvPr>
            <p:ph type="sldNum" sz="quarter" idx="12"/>
          </p:nvPr>
        </p:nvSpPr>
        <p:spPr/>
        <p:txBody>
          <a:bodyPr/>
          <a:lstStyle/>
          <a:p>
            <a:fld id="{08F56A7E-0F19-8047-AEA9-A0848123DC9E}" type="slidenum">
              <a:rPr lang="en-CN" smtClean="0"/>
              <a:t>‹#›</a:t>
            </a:fld>
            <a:endParaRPr lang="en-CN"/>
          </a:p>
        </p:txBody>
      </p:sp>
    </p:spTree>
    <p:extLst>
      <p:ext uri="{BB962C8B-B14F-4D97-AF65-F5344CB8AC3E}">
        <p14:creationId xmlns:p14="http://schemas.microsoft.com/office/powerpoint/2010/main" val="1230787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A3E2DE-EEB8-597E-EB71-D9EF7870CE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B380DE06-D781-AB90-DD30-7E4731879D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D1A3512C-8F61-186C-DCA3-A6F35A2DCD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1D11D0-0B76-6748-AC15-13FEA36495D2}" type="datetimeFigureOut">
              <a:rPr lang="en-CN" smtClean="0"/>
              <a:t>2026/5/12</a:t>
            </a:fld>
            <a:endParaRPr lang="en-CN"/>
          </a:p>
        </p:txBody>
      </p:sp>
      <p:sp>
        <p:nvSpPr>
          <p:cNvPr id="5" name="Footer Placeholder 4">
            <a:extLst>
              <a:ext uri="{FF2B5EF4-FFF2-40B4-BE49-F238E27FC236}">
                <a16:creationId xmlns:a16="http://schemas.microsoft.com/office/drawing/2014/main" id="{A15FAB97-23D3-7658-82AA-51CC43FE52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N"/>
          </a:p>
        </p:txBody>
      </p:sp>
      <p:sp>
        <p:nvSpPr>
          <p:cNvPr id="6" name="Slide Number Placeholder 5">
            <a:extLst>
              <a:ext uri="{FF2B5EF4-FFF2-40B4-BE49-F238E27FC236}">
                <a16:creationId xmlns:a16="http://schemas.microsoft.com/office/drawing/2014/main" id="{11BCBFD1-4829-515C-4ADA-7C70146A56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F56A7E-0F19-8047-AEA9-A0848123DC9E}" type="slidenum">
              <a:rPr lang="en-CN" smtClean="0"/>
              <a:t>‹#›</a:t>
            </a:fld>
            <a:endParaRPr lang="en-CN"/>
          </a:p>
        </p:txBody>
      </p:sp>
    </p:spTree>
    <p:extLst>
      <p:ext uri="{BB962C8B-B14F-4D97-AF65-F5344CB8AC3E}">
        <p14:creationId xmlns:p14="http://schemas.microsoft.com/office/powerpoint/2010/main" val="8662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B6326A-428D-F82B-9CCE-41CB3A5CBDF7}"/>
              </a:ext>
            </a:extLst>
          </p:cNvPr>
          <p:cNvSpPr>
            <a:spLocks noGrp="1"/>
          </p:cNvSpPr>
          <p:nvPr>
            <p:ph type="sldNum" sz="quarter" idx="12"/>
          </p:nvPr>
        </p:nvSpPr>
        <p:spPr/>
        <p:txBody>
          <a:bodyPr/>
          <a:lstStyle/>
          <a:p>
            <a:fld id="{9D1E5884-00E0-43AD-8B56-46510891432D}" type="slidenum">
              <a:rPr lang="en-SG" smtClean="0"/>
              <a:t>1</a:t>
            </a:fld>
            <a:endParaRPr lang="en-SG"/>
          </a:p>
        </p:txBody>
      </p:sp>
      <p:graphicFrame>
        <p:nvGraphicFramePr>
          <p:cNvPr id="5" name="Table 4">
            <a:extLst>
              <a:ext uri="{FF2B5EF4-FFF2-40B4-BE49-F238E27FC236}">
                <a16:creationId xmlns:a16="http://schemas.microsoft.com/office/drawing/2014/main" id="{24DE5C25-096D-A888-487F-F8C6A4857017}"/>
              </a:ext>
            </a:extLst>
          </p:cNvPr>
          <p:cNvGraphicFramePr>
            <a:graphicFrameLocks noGrp="1"/>
          </p:cNvGraphicFramePr>
          <p:nvPr/>
        </p:nvGraphicFramePr>
        <p:xfrm>
          <a:off x="979713" y="1650235"/>
          <a:ext cx="9731829" cy="3657600"/>
        </p:xfrm>
        <a:graphic>
          <a:graphicData uri="http://schemas.openxmlformats.org/drawingml/2006/table">
            <a:tbl>
              <a:tblPr firstRow="1" bandRow="1">
                <a:tableStyleId>{2D5ABB26-0587-4C30-8999-92F81FD0307C}</a:tableStyleId>
              </a:tblPr>
              <a:tblGrid>
                <a:gridCol w="1375199">
                  <a:extLst>
                    <a:ext uri="{9D8B030D-6E8A-4147-A177-3AD203B41FA5}">
                      <a16:colId xmlns:a16="http://schemas.microsoft.com/office/drawing/2014/main" val="139049649"/>
                    </a:ext>
                  </a:extLst>
                </a:gridCol>
                <a:gridCol w="1072504">
                  <a:extLst>
                    <a:ext uri="{9D8B030D-6E8A-4147-A177-3AD203B41FA5}">
                      <a16:colId xmlns:a16="http://schemas.microsoft.com/office/drawing/2014/main" val="1426151426"/>
                    </a:ext>
                  </a:extLst>
                </a:gridCol>
                <a:gridCol w="1051826">
                  <a:extLst>
                    <a:ext uri="{9D8B030D-6E8A-4147-A177-3AD203B41FA5}">
                      <a16:colId xmlns:a16="http://schemas.microsoft.com/office/drawing/2014/main" val="1872526562"/>
                    </a:ext>
                  </a:extLst>
                </a:gridCol>
                <a:gridCol w="1277915">
                  <a:extLst>
                    <a:ext uri="{9D8B030D-6E8A-4147-A177-3AD203B41FA5}">
                      <a16:colId xmlns:a16="http://schemas.microsoft.com/office/drawing/2014/main" val="142440725"/>
                    </a:ext>
                  </a:extLst>
                </a:gridCol>
                <a:gridCol w="1277915">
                  <a:extLst>
                    <a:ext uri="{9D8B030D-6E8A-4147-A177-3AD203B41FA5}">
                      <a16:colId xmlns:a16="http://schemas.microsoft.com/office/drawing/2014/main" val="2958299845"/>
                    </a:ext>
                  </a:extLst>
                </a:gridCol>
                <a:gridCol w="983014">
                  <a:extLst>
                    <a:ext uri="{9D8B030D-6E8A-4147-A177-3AD203B41FA5}">
                      <a16:colId xmlns:a16="http://schemas.microsoft.com/office/drawing/2014/main" val="2335180004"/>
                    </a:ext>
                  </a:extLst>
                </a:gridCol>
                <a:gridCol w="1346728">
                  <a:extLst>
                    <a:ext uri="{9D8B030D-6E8A-4147-A177-3AD203B41FA5}">
                      <a16:colId xmlns:a16="http://schemas.microsoft.com/office/drawing/2014/main" val="3319042666"/>
                    </a:ext>
                  </a:extLst>
                </a:gridCol>
                <a:gridCol w="1346728">
                  <a:extLst>
                    <a:ext uri="{9D8B030D-6E8A-4147-A177-3AD203B41FA5}">
                      <a16:colId xmlns:a16="http://schemas.microsoft.com/office/drawing/2014/main" val="2267203132"/>
                    </a:ext>
                  </a:extLst>
                </a:gridCol>
              </a:tblGrid>
              <a:tr h="330715">
                <a:tc rowSpan="2" gridSpan="2">
                  <a:txBody>
                    <a:bodyPr/>
                    <a:lstStyle/>
                    <a:p>
                      <a:pPr algn="ctr"/>
                      <a:endParaRPr lang="en-CN"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CN"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CN" dirty="0">
                          <a:latin typeface="Times New Roman" panose="02020603050405020304" pitchFamily="18" charset="0"/>
                          <a:cs typeface="Times New Roman" panose="02020603050405020304" pitchFamily="18" charset="0"/>
                        </a:rPr>
                        <a:t>LAD (lit)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CN"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LAPE (lit)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CN"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235940"/>
                  </a:ext>
                </a:extLst>
              </a:tr>
              <a:tr h="349964">
                <a:tc gridSpan="2" vMerge="1">
                  <a:txBody>
                    <a:bodyPr/>
                    <a:lstStyle/>
                    <a:p>
                      <a:endParaRPr lang="en-CN"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CN"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L</a:t>
                      </a:r>
                      <a:r>
                        <a:rPr lang="en-CN" dirty="0">
                          <a:latin typeface="Times New Roman" panose="02020603050405020304" pitchFamily="18" charset="0"/>
                          <a:cs typeface="Times New Roman" panose="02020603050405020304" pitchFamily="18" charset="0"/>
                        </a:rPr>
                        <a:t>it only</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L</a:t>
                      </a:r>
                      <a:r>
                        <a:rPr lang="en-CN" dirty="0">
                          <a:latin typeface="Times New Roman" panose="02020603050405020304" pitchFamily="18" charset="0"/>
                          <a:cs typeface="Times New Roman" panose="02020603050405020304" pitchFamily="18" charset="0"/>
                        </a:rPr>
                        <a:t>it &amp; Dark</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p value</a:t>
                      </a: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L</a:t>
                      </a:r>
                      <a:r>
                        <a:rPr lang="en-CN" dirty="0">
                          <a:latin typeface="Times New Roman" panose="02020603050405020304" pitchFamily="18" charset="0"/>
                          <a:cs typeface="Times New Roman" panose="02020603050405020304" pitchFamily="18" charset="0"/>
                        </a:rPr>
                        <a:t>it only</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L</a:t>
                      </a:r>
                      <a:r>
                        <a:rPr lang="en-CN" dirty="0">
                          <a:latin typeface="Times New Roman" panose="02020603050405020304" pitchFamily="18" charset="0"/>
                          <a:cs typeface="Times New Roman" panose="02020603050405020304" pitchFamily="18" charset="0"/>
                        </a:rPr>
                        <a:t>it &amp; Dark</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 value</a:t>
                      </a: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1584977"/>
                  </a:ext>
                </a:extLst>
              </a:tr>
              <a:tr h="321826">
                <a:tc rowSpan="4">
                  <a:txBody>
                    <a:bodyPr/>
                    <a:lstStyle/>
                    <a:p>
                      <a:pPr algn="ctr"/>
                      <a:r>
                        <a:rPr lang="en-US" dirty="0">
                          <a:latin typeface="Times New Roman" panose="02020603050405020304" pitchFamily="18" charset="0"/>
                          <a:cs typeface="Times New Roman" panose="02020603050405020304" pitchFamily="18" charset="0"/>
                        </a:rPr>
                        <a:t>L</a:t>
                      </a:r>
                      <a:r>
                        <a:rPr lang="en-CN" dirty="0">
                          <a:latin typeface="Times New Roman" panose="02020603050405020304" pitchFamily="18" charset="0"/>
                          <a:cs typeface="Times New Roman" panose="02020603050405020304" pitchFamily="18" charset="0"/>
                        </a:rPr>
                        <a:t>ow</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precision (64)</a:t>
                      </a:r>
                      <a:endParaRPr lang="en-CN"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CN" b="1" dirty="0">
                          <a:latin typeface="Times New Roman" panose="02020603050405020304" pitchFamily="18" charset="0"/>
                          <a:cs typeface="Times New Roman" panose="02020603050405020304" pitchFamily="18" charset="0"/>
                        </a:rPr>
                        <a:t>endo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3.052</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3.417</a:t>
                      </a: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solidFill>
                            <a:srgbClr val="FF0000"/>
                          </a:solidFill>
                          <a:latin typeface="Times New Roman" panose="02020603050405020304" pitchFamily="18" charset="0"/>
                          <a:cs typeface="Times New Roman" panose="02020603050405020304" pitchFamily="18" charset="0"/>
                        </a:rPr>
                        <a:t>0.0487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4.271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4.389</a:t>
                      </a: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0.3167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14979334"/>
                  </a:ext>
                </a:extLst>
              </a:tr>
              <a:tr h="321826">
                <a:tc vMerge="1">
                  <a:txBody>
                    <a:bodyPr/>
                    <a:lstStyle/>
                    <a:p>
                      <a:endParaRPr lang="en-CN"/>
                    </a:p>
                  </a:txBody>
                  <a:tcPr/>
                </a:tc>
                <a:tc vMerge="1">
                  <a:txBody>
                    <a:bodyPr/>
                    <a:lstStyle/>
                    <a:p>
                      <a:pPr algn="ctr"/>
                      <a:endParaRPr lang="en-CN" b="1"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(1.572)</a:t>
                      </a: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(1.579)</a:t>
                      </a:r>
                    </a:p>
                  </a:txBody>
                  <a:tcPr>
                    <a:lnR w="12700" cap="flat" cmpd="sng" algn="ctr">
                      <a:no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N" dirty="0">
                        <a:solidFill>
                          <a:srgbClr val="FF0000"/>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(1.780)</a:t>
                      </a:r>
                    </a:p>
                  </a:txBody>
                  <a:tcPr>
                    <a:lnL w="12700" cap="flat" cmpd="sng" algn="ctr">
                      <a:solidFill>
                        <a:schemeClr val="tx1"/>
                      </a:solidFill>
                      <a:prstDash val="solid"/>
                      <a:round/>
                      <a:headEnd type="none" w="med" len="med"/>
                      <a:tailEnd type="none" w="med" len="med"/>
                    </a:lnL>
                  </a:tcPr>
                </a:tc>
                <a:tc>
                  <a:txBody>
                    <a:bodyPr/>
                    <a:lstStyle/>
                    <a:p>
                      <a:pPr algn="ctr"/>
                      <a:r>
                        <a:rPr lang="en-CN" dirty="0">
                          <a:latin typeface="Times New Roman" panose="02020603050405020304" pitchFamily="18" charset="0"/>
                          <a:cs typeface="Times New Roman" panose="02020603050405020304" pitchFamily="18" charset="0"/>
                        </a:rPr>
                        <a:t>(1.416)</a:t>
                      </a:r>
                    </a:p>
                  </a:txBody>
                  <a:tcPr>
                    <a:lnR w="12700" cap="flat" cmpd="sng" algn="ctr">
                      <a:noFill/>
                      <a:prstDash val="solid"/>
                      <a:round/>
                      <a:headEnd type="none" w="med" len="med"/>
                      <a:tailEnd type="none" w="med" len="med"/>
                    </a:lnR>
                  </a:tcPr>
                </a:tc>
                <a:tc>
                  <a:txBody>
                    <a:bodyPr/>
                    <a:lstStyle/>
                    <a:p>
                      <a:pPr algn="ct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113040496"/>
                  </a:ext>
                </a:extLst>
              </a:tr>
              <a:tr h="332890">
                <a:tc vMerge="1">
                  <a:txBody>
                    <a:bodyPr/>
                    <a:lstStyle/>
                    <a:p>
                      <a:endParaRPr lang="en-CN" dirty="0"/>
                    </a:p>
                  </a:txBody>
                  <a:tcPr>
                    <a:lnB w="12700" cap="flat" cmpd="sng" algn="ctr">
                      <a:solidFill>
                        <a:schemeClr val="tx1"/>
                      </a:solidFill>
                      <a:prstDash val="solid"/>
                      <a:round/>
                      <a:headEnd type="none" w="med" len="med"/>
                      <a:tailEnd type="none" w="med" len="med"/>
                    </a:lnB>
                  </a:tcPr>
                </a:tc>
                <a:tc rowSpan="2">
                  <a:txBody>
                    <a:bodyPr/>
                    <a:lstStyle/>
                    <a:p>
                      <a:pPr algn="ctr"/>
                      <a:r>
                        <a:rPr lang="en-CN" b="1" dirty="0">
                          <a:latin typeface="Times New Roman" panose="02020603050405020304" pitchFamily="18" charset="0"/>
                          <a:cs typeface="Times New Roman" panose="02020603050405020304" pitchFamily="18" charset="0"/>
                        </a:rPr>
                        <a:t>exog</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3.098</a:t>
                      </a:r>
                    </a:p>
                  </a:txBody>
                  <a:tcPr>
                    <a:lnL w="12700" cap="flat" cmpd="sng" algn="ctr">
                      <a:solidFill>
                        <a:schemeClr val="tx1"/>
                      </a:solidFill>
                      <a:prstDash val="solid"/>
                      <a:round/>
                      <a:headEnd type="none" w="med" len="med"/>
                      <a:tailEnd type="none" w="med" len="med"/>
                    </a:lnL>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3.573</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solidFill>
                            <a:srgbClr val="FF0000"/>
                          </a:solidFill>
                          <a:latin typeface="Times New Roman" panose="02020603050405020304" pitchFamily="18" charset="0"/>
                          <a:cs typeface="Times New Roman" panose="02020603050405020304" pitchFamily="18" charset="0"/>
                        </a:rPr>
                        <a:t>0.0624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4.213</a:t>
                      </a:r>
                    </a:p>
                  </a:txBody>
                  <a:tcPr>
                    <a:lnL w="12700" cap="flat" cmpd="sng" algn="ctr">
                      <a:solidFill>
                        <a:schemeClr val="tx1"/>
                      </a:solid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4.264</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0.8146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3545793340"/>
                  </a:ext>
                </a:extLst>
              </a:tr>
              <a:tr h="332890">
                <a:tc vMerge="1">
                  <a:txBody>
                    <a:bodyPr/>
                    <a:lstStyle/>
                    <a:p>
                      <a:pPr algn="ctr"/>
                      <a:endParaRPr lang="en-CN" dirty="0">
                        <a:latin typeface="Times New Roman" panose="02020603050405020304" pitchFamily="18" charset="0"/>
                        <a:cs typeface="Times New Roman" panose="02020603050405020304" pitchFamily="18" charset="0"/>
                      </a:endParaRP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CN" b="1"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(2.171)</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(1.155)</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(2.190)</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(1.323)</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2736747"/>
                  </a:ext>
                </a:extLst>
              </a:tr>
              <a:tr h="323134">
                <a:tc rowSpan="4">
                  <a:txBody>
                    <a:bodyPr/>
                    <a:lstStyle/>
                    <a:p>
                      <a:pPr algn="ctr"/>
                      <a:r>
                        <a:rPr lang="en-US" dirty="0">
                          <a:latin typeface="Times New Roman" panose="02020603050405020304" pitchFamily="18" charset="0"/>
                          <a:cs typeface="Times New Roman" panose="02020603050405020304" pitchFamily="18" charset="0"/>
                        </a:rPr>
                        <a:t>High </a:t>
                      </a:r>
                      <a:r>
                        <a:rPr lang="en-US" altLang="zh-CN" dirty="0">
                          <a:latin typeface="Times New Roman" panose="02020603050405020304" pitchFamily="18" charset="0"/>
                          <a:cs typeface="Times New Roman" panose="02020603050405020304" pitchFamily="18" charset="0"/>
                        </a:rPr>
                        <a:t>precision (73)</a:t>
                      </a:r>
                      <a:endParaRPr lang="en-CN"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CN" b="1" dirty="0">
                          <a:latin typeface="Times New Roman" panose="02020603050405020304" pitchFamily="18" charset="0"/>
                          <a:cs typeface="Times New Roman" panose="02020603050405020304" pitchFamily="18" charset="0"/>
                        </a:rPr>
                        <a:t>endo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2.131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2.300</a:t>
                      </a: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0.1593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2.218</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2.444</a:t>
                      </a: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0.1211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35079677"/>
                  </a:ext>
                </a:extLst>
              </a:tr>
              <a:tr h="323134">
                <a:tc vMerge="1">
                  <a:txBody>
                    <a:bodyPr/>
                    <a:lstStyle/>
                    <a:p>
                      <a:endParaRPr lang="en-CN"/>
                    </a:p>
                  </a:txBody>
                  <a:tcPr/>
                </a:tc>
                <a:tc vMerge="1">
                  <a:txBody>
                    <a:bodyPr/>
                    <a:lstStyle/>
                    <a:p>
                      <a:pPr algn="ctr"/>
                      <a:endParaRPr lang="en-CN" b="1"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(2.127)</a:t>
                      </a:r>
                    </a:p>
                  </a:txBody>
                  <a:tcPr>
                    <a:lnL w="12700" cap="flat" cmpd="sng" algn="ctr">
                      <a:solidFill>
                        <a:schemeClr val="tx1"/>
                      </a:solidFill>
                      <a:prstDash val="solid"/>
                      <a:round/>
                      <a:headEnd type="none" w="med" len="med"/>
                      <a:tailEnd type="none" w="med" len="med"/>
                    </a:lnL>
                  </a:tcPr>
                </a:tc>
                <a:tc>
                  <a:txBody>
                    <a:bodyPr/>
                    <a:lstStyle/>
                    <a:p>
                      <a:pPr algn="ctr"/>
                      <a:r>
                        <a:rPr lang="en-CN" dirty="0">
                          <a:latin typeface="Times New Roman" panose="02020603050405020304" pitchFamily="18" charset="0"/>
                          <a:cs typeface="Times New Roman" panose="02020603050405020304" pitchFamily="18" charset="0"/>
                        </a:rPr>
                        <a:t>(1.828)</a:t>
                      </a:r>
                    </a:p>
                  </a:txBody>
                  <a:tcPr>
                    <a:lnR w="12700" cap="flat" cmpd="sng" algn="ctr">
                      <a:noFill/>
                      <a:prstDash val="solid"/>
                      <a:round/>
                      <a:headEnd type="none" w="med" len="med"/>
                      <a:tailEnd type="none" w="med" len="med"/>
                    </a:lnR>
                  </a:tcPr>
                </a:tc>
                <a:tc>
                  <a:txBody>
                    <a:bodyPr/>
                    <a:lstStyle/>
                    <a:p>
                      <a:pPr algn="ct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(2.223)</a:t>
                      </a:r>
                    </a:p>
                  </a:txBody>
                  <a:tcPr>
                    <a:lnL w="12700" cap="flat" cmpd="sng" algn="ctr">
                      <a:solidFill>
                        <a:schemeClr val="tx1"/>
                      </a:solidFill>
                      <a:prstDash val="solid"/>
                      <a:round/>
                      <a:headEnd type="none" w="med" len="med"/>
                      <a:tailEnd type="none" w="med" len="med"/>
                    </a:lnL>
                  </a:tcPr>
                </a:tc>
                <a:tc>
                  <a:txBody>
                    <a:bodyPr/>
                    <a:lstStyle/>
                    <a:p>
                      <a:pPr algn="ctr"/>
                      <a:r>
                        <a:rPr lang="en-CN" dirty="0">
                          <a:latin typeface="Times New Roman" panose="02020603050405020304" pitchFamily="18" charset="0"/>
                          <a:cs typeface="Times New Roman" panose="02020603050405020304" pitchFamily="18" charset="0"/>
                        </a:rPr>
                        <a:t>(1.940)</a:t>
                      </a:r>
                    </a:p>
                  </a:txBody>
                  <a:tcPr>
                    <a:lnR w="12700" cap="flat" cmpd="sng" algn="ctr">
                      <a:noFill/>
                      <a:prstDash val="solid"/>
                      <a:round/>
                      <a:headEnd type="none" w="med" len="med"/>
                      <a:tailEnd type="none" w="med" len="med"/>
                    </a:lnR>
                  </a:tcPr>
                </a:tc>
                <a:tc>
                  <a:txBody>
                    <a:bodyPr/>
                    <a:lstStyle/>
                    <a:p>
                      <a:pPr algn="ct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326341559"/>
                  </a:ext>
                </a:extLst>
              </a:tr>
              <a:tr h="327751">
                <a:tc vMerge="1">
                  <a:txBody>
                    <a:bodyPr/>
                    <a:lstStyle/>
                    <a:p>
                      <a:endParaRPr lang="en-CN" dirty="0"/>
                    </a:p>
                  </a:txBody>
                  <a:tcPr>
                    <a:lnB w="12700" cap="flat" cmpd="sng" algn="ctr">
                      <a:solidFill>
                        <a:schemeClr val="tx1"/>
                      </a:solidFill>
                      <a:prstDash val="solid"/>
                      <a:round/>
                      <a:headEnd type="none" w="med" len="med"/>
                      <a:tailEnd type="none" w="med" len="med"/>
                    </a:lnB>
                  </a:tcPr>
                </a:tc>
                <a:tc rowSpan="2">
                  <a:txBody>
                    <a:bodyPr/>
                    <a:lstStyle/>
                    <a:p>
                      <a:pPr algn="ctr"/>
                      <a:r>
                        <a:rPr lang="en-CN" b="1" dirty="0">
                          <a:latin typeface="Times New Roman" panose="02020603050405020304" pitchFamily="18" charset="0"/>
                          <a:cs typeface="Times New Roman" panose="02020603050405020304" pitchFamily="18" charset="0"/>
                        </a:rPr>
                        <a:t>exog</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2.374</a:t>
                      </a:r>
                    </a:p>
                  </a:txBody>
                  <a:tcPr>
                    <a:lnL w="12700" cap="flat" cmpd="sng" algn="ctr">
                      <a:solidFill>
                        <a:schemeClr val="tx1"/>
                      </a:solidFill>
                      <a:prstDash val="solid"/>
                      <a:round/>
                      <a:headEnd type="none" w="med" len="med"/>
                      <a:tailEnd type="none" w="med" len="med"/>
                    </a:lnL>
                  </a:tcPr>
                </a:tc>
                <a:tc>
                  <a:txBody>
                    <a:bodyPr/>
                    <a:lstStyle/>
                    <a:p>
                      <a:pPr algn="ctr"/>
                      <a:r>
                        <a:rPr lang="en-CN" dirty="0">
                          <a:latin typeface="Times New Roman" panose="02020603050405020304" pitchFamily="18" charset="0"/>
                          <a:cs typeface="Times New Roman" panose="02020603050405020304" pitchFamily="18" charset="0"/>
                        </a:rPr>
                        <a:t>2.554</a:t>
                      </a:r>
                    </a:p>
                  </a:txBody>
                  <a:tcPr>
                    <a:lnR w="12700" cap="flat" cmpd="sng" algn="ctr">
                      <a:no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0.4696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2.428</a:t>
                      </a:r>
                    </a:p>
                  </a:txBody>
                  <a:tcPr>
                    <a:lnL w="12700" cap="flat" cmpd="sng" algn="ctr">
                      <a:solidFill>
                        <a:schemeClr val="tx1"/>
                      </a:solidFill>
                      <a:prstDash val="solid"/>
                      <a:round/>
                      <a:headEnd type="none" w="med" len="med"/>
                      <a:tailEnd type="none" w="med" len="med"/>
                    </a:lnL>
                  </a:tcPr>
                </a:tc>
                <a:tc>
                  <a:txBody>
                    <a:bodyPr/>
                    <a:lstStyle/>
                    <a:p>
                      <a:pPr algn="ctr"/>
                      <a:r>
                        <a:rPr lang="en-CN" dirty="0">
                          <a:latin typeface="Times New Roman" panose="02020603050405020304" pitchFamily="18" charset="0"/>
                          <a:cs typeface="Times New Roman" panose="02020603050405020304" pitchFamily="18" charset="0"/>
                        </a:rPr>
                        <a:t>2.803</a:t>
                      </a:r>
                    </a:p>
                  </a:txBody>
                  <a:tcPr>
                    <a:lnR w="12700" cap="flat" cmpd="sng" algn="ctr">
                      <a:no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0.2982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669797228"/>
                  </a:ext>
                </a:extLst>
              </a:tr>
              <a:tr h="327751">
                <a:tc vMerge="1">
                  <a:txBody>
                    <a:bodyPr/>
                    <a:lstStyle/>
                    <a:p>
                      <a:pPr algn="ctr"/>
                      <a:endParaRPr lang="en-CN"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CN" b="1"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(1.932)</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(1.726)</a:t>
                      </a:r>
                    </a:p>
                  </a:txBody>
                  <a:tcPr>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(1.940)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(1.845)</a:t>
                      </a:r>
                    </a:p>
                  </a:txBody>
                  <a:tcPr>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897757"/>
                  </a:ext>
                </a:extLst>
              </a:tr>
            </a:tbl>
          </a:graphicData>
        </a:graphic>
      </p:graphicFrame>
      <p:sp>
        <p:nvSpPr>
          <p:cNvPr id="7" name="TextBox 6">
            <a:extLst>
              <a:ext uri="{FF2B5EF4-FFF2-40B4-BE49-F238E27FC236}">
                <a16:creationId xmlns:a16="http://schemas.microsoft.com/office/drawing/2014/main" id="{A69EE58E-0186-E500-E3BD-379F609F7C4C}"/>
              </a:ext>
            </a:extLst>
          </p:cNvPr>
          <p:cNvSpPr txBox="1"/>
          <p:nvPr/>
        </p:nvSpPr>
        <p:spPr>
          <a:xfrm>
            <a:off x="3282309" y="596058"/>
            <a:ext cx="5126636" cy="954107"/>
          </a:xfrm>
          <a:prstGeom prst="rect">
            <a:avLst/>
          </a:prstGeom>
          <a:noFill/>
        </p:spPr>
        <p:txBody>
          <a:bodyPr wrap="square" rtlCol="0">
            <a:spAutoFit/>
          </a:bodyPr>
          <a:lstStyle/>
          <a:p>
            <a:pPr algn="ctr"/>
            <a:r>
              <a:rPr lang="en-CN" sz="2800" dirty="0">
                <a:latin typeface="Times New Roman" panose="02020603050405020304" pitchFamily="18" charset="0"/>
                <a:cs typeface="Times New Roman" panose="02020603050405020304" pitchFamily="18" charset="0"/>
              </a:rPr>
              <a:t>LAD/LAPE in LIT MARKET ENDO vs. EXOG</a:t>
            </a:r>
          </a:p>
        </p:txBody>
      </p:sp>
      <p:sp>
        <p:nvSpPr>
          <p:cNvPr id="2" name="TextBox 1">
            <a:extLst>
              <a:ext uri="{FF2B5EF4-FFF2-40B4-BE49-F238E27FC236}">
                <a16:creationId xmlns:a16="http://schemas.microsoft.com/office/drawing/2014/main" id="{38EFD80D-4F42-94B0-46C9-C4A5C181766A}"/>
              </a:ext>
            </a:extLst>
          </p:cNvPr>
          <p:cNvSpPr txBox="1"/>
          <p:nvPr/>
        </p:nvSpPr>
        <p:spPr>
          <a:xfrm>
            <a:off x="773063" y="5647426"/>
            <a:ext cx="9938479" cy="369332"/>
          </a:xfrm>
          <a:prstGeom prst="rect">
            <a:avLst/>
          </a:prstGeom>
          <a:noFill/>
        </p:spPr>
        <p:txBody>
          <a:bodyPr wrap="square" rtlCol="0">
            <a:spAutoFit/>
          </a:bodyPr>
          <a:lstStyle/>
          <a:p>
            <a:r>
              <a:rPr lang="en-CN" dirty="0">
                <a:latin typeface="Times New Roman" panose="02020603050405020304" pitchFamily="18" charset="0"/>
                <a:cs typeface="Times New Roman" panose="02020603050405020304" pitchFamily="18" charset="0"/>
              </a:rPr>
              <a:t>In the low precision treatment, LAD in</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the lit market is significantly higher when a dark market is added.</a:t>
            </a:r>
            <a:endParaRPr lang="en-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692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B598C-F6C7-C007-233B-7C277842474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6456C7-888C-2D96-5AA0-9CCD4DC22B58}"/>
              </a:ext>
            </a:extLst>
          </p:cNvPr>
          <p:cNvSpPr>
            <a:spLocks noGrp="1"/>
          </p:cNvSpPr>
          <p:nvPr>
            <p:ph type="sldNum" sz="quarter" idx="12"/>
          </p:nvPr>
        </p:nvSpPr>
        <p:spPr/>
        <p:txBody>
          <a:bodyPr/>
          <a:lstStyle/>
          <a:p>
            <a:fld id="{9D1E5884-00E0-43AD-8B56-46510891432D}" type="slidenum">
              <a:rPr lang="en-SG" smtClean="0"/>
              <a:t>2</a:t>
            </a:fld>
            <a:endParaRPr lang="en-SG"/>
          </a:p>
        </p:txBody>
      </p:sp>
      <p:graphicFrame>
        <p:nvGraphicFramePr>
          <p:cNvPr id="5" name="Table 4">
            <a:extLst>
              <a:ext uri="{FF2B5EF4-FFF2-40B4-BE49-F238E27FC236}">
                <a16:creationId xmlns:a16="http://schemas.microsoft.com/office/drawing/2014/main" id="{6C2F3995-BC74-C738-8ABB-A6CC3F174788}"/>
              </a:ext>
            </a:extLst>
          </p:cNvPr>
          <p:cNvGraphicFramePr>
            <a:graphicFrameLocks noGrp="1"/>
          </p:cNvGraphicFramePr>
          <p:nvPr/>
        </p:nvGraphicFramePr>
        <p:xfrm>
          <a:off x="371541" y="1355244"/>
          <a:ext cx="10691201" cy="3657600"/>
        </p:xfrm>
        <a:graphic>
          <a:graphicData uri="http://schemas.openxmlformats.org/drawingml/2006/table">
            <a:tbl>
              <a:tblPr firstRow="1" bandRow="1">
                <a:tableStyleId>{2D5ABB26-0587-4C30-8999-92F81FD0307C}</a:tableStyleId>
              </a:tblPr>
              <a:tblGrid>
                <a:gridCol w="1684674">
                  <a:extLst>
                    <a:ext uri="{9D8B030D-6E8A-4147-A177-3AD203B41FA5}">
                      <a16:colId xmlns:a16="http://schemas.microsoft.com/office/drawing/2014/main" val="139049649"/>
                    </a:ext>
                  </a:extLst>
                </a:gridCol>
                <a:gridCol w="1004326">
                  <a:extLst>
                    <a:ext uri="{9D8B030D-6E8A-4147-A177-3AD203B41FA5}">
                      <a16:colId xmlns:a16="http://schemas.microsoft.com/office/drawing/2014/main" val="1426151426"/>
                    </a:ext>
                  </a:extLst>
                </a:gridCol>
                <a:gridCol w="1155515">
                  <a:extLst>
                    <a:ext uri="{9D8B030D-6E8A-4147-A177-3AD203B41FA5}">
                      <a16:colId xmlns:a16="http://schemas.microsoft.com/office/drawing/2014/main" val="1872526562"/>
                    </a:ext>
                  </a:extLst>
                </a:gridCol>
                <a:gridCol w="1403894">
                  <a:extLst>
                    <a:ext uri="{9D8B030D-6E8A-4147-A177-3AD203B41FA5}">
                      <a16:colId xmlns:a16="http://schemas.microsoft.com/office/drawing/2014/main" val="142440725"/>
                    </a:ext>
                  </a:extLst>
                </a:gridCol>
                <a:gridCol w="1403894">
                  <a:extLst>
                    <a:ext uri="{9D8B030D-6E8A-4147-A177-3AD203B41FA5}">
                      <a16:colId xmlns:a16="http://schemas.microsoft.com/office/drawing/2014/main" val="3545775541"/>
                    </a:ext>
                  </a:extLst>
                </a:gridCol>
                <a:gridCol w="1079920">
                  <a:extLst>
                    <a:ext uri="{9D8B030D-6E8A-4147-A177-3AD203B41FA5}">
                      <a16:colId xmlns:a16="http://schemas.microsoft.com/office/drawing/2014/main" val="2335180004"/>
                    </a:ext>
                  </a:extLst>
                </a:gridCol>
                <a:gridCol w="1479489">
                  <a:extLst>
                    <a:ext uri="{9D8B030D-6E8A-4147-A177-3AD203B41FA5}">
                      <a16:colId xmlns:a16="http://schemas.microsoft.com/office/drawing/2014/main" val="3319042666"/>
                    </a:ext>
                  </a:extLst>
                </a:gridCol>
                <a:gridCol w="1479489">
                  <a:extLst>
                    <a:ext uri="{9D8B030D-6E8A-4147-A177-3AD203B41FA5}">
                      <a16:colId xmlns:a16="http://schemas.microsoft.com/office/drawing/2014/main" val="896325416"/>
                    </a:ext>
                  </a:extLst>
                </a:gridCol>
              </a:tblGrid>
              <a:tr h="344161">
                <a:tc rowSpan="2" gridSpan="2">
                  <a:txBody>
                    <a:bodyPr/>
                    <a:lstStyle/>
                    <a:p>
                      <a:pPr algn="ctr"/>
                      <a:endParaRPr lang="en-CN"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endParaRPr lang="en-CN"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CN" dirty="0">
                          <a:latin typeface="Times New Roman" panose="02020603050405020304" pitchFamily="18" charset="0"/>
                          <a:cs typeface="Times New Roman" panose="02020603050405020304" pitchFamily="18" charset="0"/>
                        </a:rPr>
                        <a:t>1st half (Period 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N"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C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CN" dirty="0">
                          <a:latin typeface="Times New Roman" panose="02020603050405020304" pitchFamily="18" charset="0"/>
                          <a:cs typeface="Times New Roman" panose="02020603050405020304" pitchFamily="18" charset="0"/>
                        </a:rPr>
                        <a:t>2nd half (Period 11-20)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N"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235940"/>
                  </a:ext>
                </a:extLst>
              </a:tr>
              <a:tr h="344161">
                <a:tc gridSpan="2" vMerge="1">
                  <a:txBody>
                    <a:bodyPr/>
                    <a:lstStyle/>
                    <a:p>
                      <a:endParaRPr lang="en-CN"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CN"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L</a:t>
                      </a:r>
                      <a:r>
                        <a:rPr lang="en-CN" dirty="0">
                          <a:latin typeface="Times New Roman" panose="02020603050405020304" pitchFamily="18" charset="0"/>
                          <a:cs typeface="Times New Roman" panose="02020603050405020304" pitchFamily="18" charset="0"/>
                        </a:rPr>
                        <a:t>it only</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L</a:t>
                      </a:r>
                      <a:r>
                        <a:rPr lang="en-CN" dirty="0">
                          <a:latin typeface="Times New Roman" panose="02020603050405020304" pitchFamily="18" charset="0"/>
                          <a:cs typeface="Times New Roman" panose="02020603050405020304" pitchFamily="18" charset="0"/>
                        </a:rPr>
                        <a:t>it &amp; Dark</a:t>
                      </a: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p</a:t>
                      </a:r>
                      <a:r>
                        <a:rPr lang="en-CN" dirty="0">
                          <a:latin typeface="Times New Roman" panose="02020603050405020304" pitchFamily="18" charset="0"/>
                          <a:cs typeface="Times New Roman" panose="02020603050405020304" pitchFamily="18" charset="0"/>
                        </a:rPr>
                        <a:t> value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L</a:t>
                      </a:r>
                      <a:r>
                        <a:rPr lang="en-CN" dirty="0">
                          <a:latin typeface="Times New Roman" panose="02020603050405020304" pitchFamily="18" charset="0"/>
                          <a:cs typeface="Times New Roman" panose="02020603050405020304" pitchFamily="18" charset="0"/>
                        </a:rPr>
                        <a:t>it only</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L</a:t>
                      </a:r>
                      <a:r>
                        <a:rPr lang="en-CN" dirty="0">
                          <a:latin typeface="Times New Roman" panose="02020603050405020304" pitchFamily="18" charset="0"/>
                          <a:cs typeface="Times New Roman" panose="02020603050405020304" pitchFamily="18" charset="0"/>
                        </a:rPr>
                        <a:t>it &amp; Dark</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Times New Roman" panose="02020603050405020304" pitchFamily="18" charset="0"/>
                          <a:cs typeface="Times New Roman" panose="02020603050405020304" pitchFamily="18" charset="0"/>
                        </a:rPr>
                        <a:t>p value</a:t>
                      </a:r>
                      <a:endParaRPr lang="en-CN" dirty="0">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1584977"/>
                  </a:ext>
                </a:extLst>
              </a:tr>
              <a:tr h="344161">
                <a:tc rowSpan="4">
                  <a:txBody>
                    <a:bodyPr/>
                    <a:lstStyle/>
                    <a:p>
                      <a:pPr algn="ctr"/>
                      <a:r>
                        <a:rPr lang="en-US" dirty="0">
                          <a:latin typeface="Times New Roman" panose="02020603050405020304" pitchFamily="18" charset="0"/>
                          <a:cs typeface="Times New Roman" panose="02020603050405020304" pitchFamily="18" charset="0"/>
                        </a:rPr>
                        <a:t>L</a:t>
                      </a:r>
                      <a:r>
                        <a:rPr lang="en-CN" dirty="0">
                          <a:latin typeface="Times New Roman" panose="02020603050405020304" pitchFamily="18" charset="0"/>
                          <a:cs typeface="Times New Roman" panose="02020603050405020304" pitchFamily="18" charset="0"/>
                        </a:rPr>
                        <a:t>ow</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precision (64)</a:t>
                      </a:r>
                      <a:endParaRPr lang="en-CN"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CN" b="1" dirty="0">
                          <a:latin typeface="Times New Roman" panose="02020603050405020304" pitchFamily="18" charset="0"/>
                          <a:cs typeface="Times New Roman" panose="02020603050405020304" pitchFamily="18" charset="0"/>
                        </a:rPr>
                        <a:t>endo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solidFill>
                            <a:srgbClr val="FF0000"/>
                          </a:solidFill>
                          <a:latin typeface="Times New Roman" panose="02020603050405020304" pitchFamily="18" charset="0"/>
                          <a:cs typeface="Times New Roman" panose="02020603050405020304" pitchFamily="18" charset="0"/>
                        </a:rPr>
                        <a:t>3.11</a:t>
                      </a:r>
                      <a:endParaRPr lang="en-CN" dirty="0">
                        <a:solidFill>
                          <a:srgbClr val="FF0000"/>
                        </a:solidFill>
                        <a:highlight>
                          <a:srgbClr val="FFFF00"/>
                        </a:highligh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solidFill>
                            <a:srgbClr val="FF0000"/>
                          </a:solidFill>
                          <a:latin typeface="Times New Roman" panose="02020603050405020304" pitchFamily="18" charset="0"/>
                          <a:cs typeface="Times New Roman" panose="02020603050405020304" pitchFamily="18" charset="0"/>
                        </a:rPr>
                        <a:t>3.54</a:t>
                      </a:r>
                      <a:endParaRPr lang="en-CN" dirty="0">
                        <a:solidFill>
                          <a:srgbClr val="FF0000"/>
                        </a:solidFill>
                        <a:highlight>
                          <a:srgbClr val="FFFF00"/>
                        </a:highlight>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solidFill>
                            <a:srgbClr val="FF0000"/>
                          </a:solidFill>
                          <a:latin typeface="Times New Roman" panose="02020603050405020304" pitchFamily="18" charset="0"/>
                          <a:cs typeface="Times New Roman" panose="02020603050405020304" pitchFamily="18" charset="0"/>
                        </a:rPr>
                        <a:t>0.0947</a:t>
                      </a:r>
                      <a:endParaRPr lang="en-CN" dirty="0">
                        <a:solidFill>
                          <a:srgbClr val="FF0000"/>
                        </a:solidFill>
                        <a:highlight>
                          <a:srgbClr val="FFFF00"/>
                        </a:highlight>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2.99</a:t>
                      </a:r>
                      <a:endParaRPr lang="en-CN" dirty="0">
                        <a:highlight>
                          <a:srgbClr val="FFFF00"/>
                        </a:highligh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3.30</a:t>
                      </a:r>
                      <a:endParaRPr lang="en-CN" dirty="0">
                        <a:highlight>
                          <a:srgbClr val="FFFF00"/>
                        </a:highlight>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0.2417</a:t>
                      </a:r>
                      <a:endParaRPr lang="en-CN" dirty="0">
                        <a:highlight>
                          <a:srgbClr val="FFFF00"/>
                        </a:highlight>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14979334"/>
                  </a:ext>
                </a:extLst>
              </a:tr>
              <a:tr h="344161">
                <a:tc vMerge="1">
                  <a:txBody>
                    <a:bodyPr/>
                    <a:lstStyle/>
                    <a:p>
                      <a:endParaRPr lang="en-CN"/>
                    </a:p>
                  </a:txBody>
                  <a:tcPr/>
                </a:tc>
                <a:tc vMerge="1">
                  <a:txBody>
                    <a:bodyPr/>
                    <a:lstStyle/>
                    <a:p>
                      <a:pPr algn="ctr"/>
                      <a:endParaRPr lang="en-CN" b="1"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(1.44)</a:t>
                      </a: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(1.53)</a:t>
                      </a:r>
                    </a:p>
                  </a:txBody>
                  <a:tcPr>
                    <a:lnR w="12700" cap="flat" cmpd="sng" algn="ctr">
                      <a:no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(1.70)</a:t>
                      </a:r>
                    </a:p>
                  </a:txBody>
                  <a:tcPr>
                    <a:lnL w="12700" cap="flat" cmpd="sng" algn="ctr">
                      <a:solidFill>
                        <a:schemeClr val="tx1"/>
                      </a:solidFill>
                      <a:prstDash val="solid"/>
                      <a:round/>
                      <a:headEnd type="none" w="med" len="med"/>
                      <a:tailEnd type="none" w="med" len="med"/>
                    </a:lnL>
                  </a:tcPr>
                </a:tc>
                <a:tc>
                  <a:txBody>
                    <a:bodyPr/>
                    <a:lstStyle/>
                    <a:p>
                      <a:pPr algn="ctr"/>
                      <a:r>
                        <a:rPr lang="en-CN" dirty="0">
                          <a:latin typeface="Times New Roman" panose="02020603050405020304" pitchFamily="18" charset="0"/>
                          <a:cs typeface="Times New Roman" panose="02020603050405020304" pitchFamily="18" charset="0"/>
                        </a:rPr>
                        <a:t>(1.63)</a:t>
                      </a:r>
                    </a:p>
                  </a:txBody>
                  <a:tcPr/>
                </a:tc>
                <a:tc>
                  <a:txBody>
                    <a:bodyPr/>
                    <a:lstStyle/>
                    <a:p>
                      <a:pPr algn="ctr"/>
                      <a:endParaRPr lang="en-CN" dirty="0">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tcPr>
                </a:tc>
                <a:extLst>
                  <a:ext uri="{0D108BD9-81ED-4DB2-BD59-A6C34878D82A}">
                    <a16:rowId xmlns:a16="http://schemas.microsoft.com/office/drawing/2014/main" val="1728213342"/>
                  </a:ext>
                </a:extLst>
              </a:tr>
              <a:tr h="344161">
                <a:tc vMerge="1">
                  <a:txBody>
                    <a:bodyPr/>
                    <a:lstStyle/>
                    <a:p>
                      <a:endParaRPr lang="en-CN" dirty="0"/>
                    </a:p>
                  </a:txBody>
                  <a:tcPr>
                    <a:lnB w="12700" cap="flat" cmpd="sng" algn="ctr">
                      <a:solidFill>
                        <a:schemeClr val="tx1"/>
                      </a:solidFill>
                      <a:prstDash val="solid"/>
                      <a:round/>
                      <a:headEnd type="none" w="med" len="med"/>
                      <a:tailEnd type="none" w="med" len="med"/>
                    </a:lnB>
                  </a:tcPr>
                </a:tc>
                <a:tc rowSpan="2">
                  <a:txBody>
                    <a:bodyPr/>
                    <a:lstStyle/>
                    <a:p>
                      <a:pPr algn="ctr"/>
                      <a:r>
                        <a:rPr lang="en-CN" b="1" dirty="0">
                          <a:latin typeface="Times New Roman" panose="02020603050405020304" pitchFamily="18" charset="0"/>
                          <a:cs typeface="Times New Roman" panose="02020603050405020304" pitchFamily="18" charset="0"/>
                        </a:rPr>
                        <a:t>exog</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3.01</a:t>
                      </a:r>
                    </a:p>
                  </a:txBody>
                  <a:tcPr>
                    <a:lnL w="12700" cap="flat" cmpd="sng" algn="ctr">
                      <a:solidFill>
                        <a:schemeClr val="tx1"/>
                      </a:solidFill>
                      <a:prstDash val="solid"/>
                      <a:round/>
                      <a:headEnd type="none" w="med" len="med"/>
                      <a:tailEnd type="none" w="med" len="med"/>
                    </a:lnL>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3.36</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0.1653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3.18</a:t>
                      </a:r>
                    </a:p>
                  </a:txBody>
                  <a:tcPr>
                    <a:lnL w="12700" cap="flat" cmpd="sng" algn="ctr">
                      <a:solidFill>
                        <a:schemeClr val="tx1"/>
                      </a:solid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3.79</a:t>
                      </a:r>
                    </a:p>
                  </a:txBody>
                  <a:tcPr>
                    <a:lnB w="12700" cap="flat" cmpd="sng" algn="ctr">
                      <a:no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0.2648</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3545793340"/>
                  </a:ext>
                </a:extLst>
              </a:tr>
              <a:tr h="344161">
                <a:tc vMerge="1">
                  <a:txBody>
                    <a:bodyPr/>
                    <a:lstStyle/>
                    <a:p>
                      <a:pPr algn="ctr"/>
                      <a:endParaRPr lang="en-CN"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CN" b="1"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(1.98)</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(1.15)</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(2.40)</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(1.15)</a:t>
                      </a:r>
                    </a:p>
                  </a:txBody>
                  <a:tcP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CN" dirty="0">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1604673"/>
                  </a:ext>
                </a:extLst>
              </a:tr>
              <a:tr h="344161">
                <a:tc rowSpan="4">
                  <a:txBody>
                    <a:bodyPr/>
                    <a:lstStyle/>
                    <a:p>
                      <a:pPr algn="ctr"/>
                      <a:r>
                        <a:rPr lang="en-US" dirty="0">
                          <a:latin typeface="Times New Roman" panose="02020603050405020304" pitchFamily="18" charset="0"/>
                          <a:cs typeface="Times New Roman" panose="02020603050405020304" pitchFamily="18" charset="0"/>
                        </a:rPr>
                        <a:t>High </a:t>
                      </a:r>
                      <a:r>
                        <a:rPr lang="en-US" altLang="zh-CN" dirty="0">
                          <a:latin typeface="Times New Roman" panose="02020603050405020304" pitchFamily="18" charset="0"/>
                          <a:cs typeface="Times New Roman" panose="02020603050405020304" pitchFamily="18" charset="0"/>
                        </a:rPr>
                        <a:t>precision (73)</a:t>
                      </a:r>
                      <a:endParaRPr lang="en-CN"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CN" b="1" dirty="0">
                          <a:latin typeface="Times New Roman" panose="02020603050405020304" pitchFamily="18" charset="0"/>
                          <a:cs typeface="Times New Roman" panose="02020603050405020304" pitchFamily="18" charset="0"/>
                        </a:rPr>
                        <a:t>endo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2.58</a:t>
                      </a:r>
                      <a:endParaRPr lang="en-CN" dirty="0">
                        <a:highlight>
                          <a:srgbClr val="FFFF00"/>
                        </a:highligh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CN" dirty="0">
                          <a:latin typeface="Times New Roman" panose="02020603050405020304" pitchFamily="18" charset="0"/>
                          <a:cs typeface="Times New Roman" panose="02020603050405020304" pitchFamily="18" charset="0"/>
                        </a:rPr>
                        <a:t>2.96</a:t>
                      </a:r>
                      <a:endParaRPr lang="en-CN" dirty="0">
                        <a:highlight>
                          <a:srgbClr val="FFFF00"/>
                        </a:highlight>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0.3067</a:t>
                      </a:r>
                      <a:endParaRPr lang="en-CN" dirty="0">
                        <a:highlight>
                          <a:srgbClr val="FFFF00"/>
                        </a:highlight>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CN" dirty="0">
                          <a:solidFill>
                            <a:srgbClr val="FF0000"/>
                          </a:solidFill>
                          <a:latin typeface="Times New Roman" panose="02020603050405020304" pitchFamily="18" charset="0"/>
                          <a:cs typeface="Times New Roman" panose="02020603050405020304" pitchFamily="18" charset="0"/>
                        </a:rPr>
                        <a:t>1.67</a:t>
                      </a:r>
                      <a:endParaRPr lang="en-CN" dirty="0">
                        <a:solidFill>
                          <a:srgbClr val="FF0000"/>
                        </a:solidFill>
                        <a:highlight>
                          <a:srgbClr val="FFFF00"/>
                        </a:highligh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CN" dirty="0">
                          <a:solidFill>
                            <a:srgbClr val="FF0000"/>
                          </a:solidFill>
                          <a:latin typeface="Times New Roman" panose="02020603050405020304" pitchFamily="18" charset="0"/>
                          <a:cs typeface="Times New Roman" panose="02020603050405020304" pitchFamily="18" charset="0"/>
                        </a:rPr>
                        <a:t>1.64</a:t>
                      </a:r>
                      <a:endParaRPr lang="en-CN" dirty="0">
                        <a:solidFill>
                          <a:srgbClr val="FF0000"/>
                        </a:solidFill>
                        <a:highlight>
                          <a:srgbClr val="FFFF00"/>
                        </a:highlight>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CN" dirty="0">
                          <a:solidFill>
                            <a:srgbClr val="FF0000"/>
                          </a:solidFill>
                          <a:latin typeface="Times New Roman" panose="02020603050405020304" pitchFamily="18" charset="0"/>
                          <a:cs typeface="Times New Roman" panose="02020603050405020304" pitchFamily="18" charset="0"/>
                        </a:rPr>
                        <a:t> 0.1210</a:t>
                      </a:r>
                      <a:endParaRPr lang="en-CN" dirty="0">
                        <a:solidFill>
                          <a:srgbClr val="FF0000"/>
                        </a:solidFill>
                        <a:highlight>
                          <a:srgbClr val="FFFF00"/>
                        </a:highlight>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35079677"/>
                  </a:ext>
                </a:extLst>
              </a:tr>
              <a:tr h="344161">
                <a:tc vMerge="1">
                  <a:txBody>
                    <a:bodyPr/>
                    <a:lstStyle/>
                    <a:p>
                      <a:endParaRPr lang="en-CN"/>
                    </a:p>
                  </a:txBody>
                  <a:tcPr/>
                </a:tc>
                <a:tc vMerge="1">
                  <a:txBody>
                    <a:bodyPr/>
                    <a:lstStyle/>
                    <a:p>
                      <a:pPr algn="ctr"/>
                      <a:endParaRPr lang="en-CN" b="1"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(1.85)</a:t>
                      </a:r>
                    </a:p>
                  </a:txBody>
                  <a:tcPr>
                    <a:lnL w="12700" cap="flat" cmpd="sng" algn="ctr">
                      <a:solidFill>
                        <a:schemeClr val="tx1"/>
                      </a:solidFill>
                      <a:prstDash val="solid"/>
                      <a:round/>
                      <a:headEnd type="none" w="med" len="med"/>
                      <a:tailEnd type="none" w="med" len="med"/>
                    </a:lnL>
                  </a:tcPr>
                </a:tc>
                <a:tc>
                  <a:txBody>
                    <a:bodyPr/>
                    <a:lstStyle/>
                    <a:p>
                      <a:pPr algn="ctr"/>
                      <a:r>
                        <a:rPr lang="en-CN" dirty="0">
                          <a:latin typeface="Times New Roman" panose="02020603050405020304" pitchFamily="18" charset="0"/>
                          <a:cs typeface="Times New Roman" panose="02020603050405020304" pitchFamily="18" charset="0"/>
                        </a:rPr>
                        <a:t>(1.90)</a:t>
                      </a:r>
                    </a:p>
                  </a:txBody>
                  <a:tcPr>
                    <a:lnR w="12700" cap="flat" cmpd="sng" algn="ctr">
                      <a:noFill/>
                      <a:prstDash val="solid"/>
                      <a:round/>
                      <a:headEnd type="none" w="med" len="med"/>
                      <a:tailEnd type="none" w="med" len="med"/>
                    </a:lnR>
                  </a:tcPr>
                </a:tc>
                <a:tc>
                  <a:txBody>
                    <a:bodyPr/>
                    <a:lstStyle/>
                    <a:p>
                      <a:pPr algn="ct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(2.30)</a:t>
                      </a:r>
                    </a:p>
                  </a:txBody>
                  <a:tcPr>
                    <a:lnL w="12700" cap="flat" cmpd="sng" algn="ctr">
                      <a:solidFill>
                        <a:schemeClr val="tx1"/>
                      </a:solidFill>
                      <a:prstDash val="solid"/>
                      <a:round/>
                      <a:headEnd type="none" w="med" len="med"/>
                      <a:tailEnd type="none" w="med" len="med"/>
                    </a:lnL>
                  </a:tcPr>
                </a:tc>
                <a:tc>
                  <a:txBody>
                    <a:bodyPr/>
                    <a:lstStyle/>
                    <a:p>
                      <a:pPr algn="ctr"/>
                      <a:r>
                        <a:rPr lang="en-CN" dirty="0">
                          <a:latin typeface="Times New Roman" panose="02020603050405020304" pitchFamily="18" charset="0"/>
                          <a:cs typeface="Times New Roman" panose="02020603050405020304" pitchFamily="18" charset="0"/>
                        </a:rPr>
                        <a:t>(1.50)</a:t>
                      </a:r>
                    </a:p>
                  </a:txBody>
                  <a:tcPr/>
                </a:tc>
                <a:tc>
                  <a:txBody>
                    <a:bodyPr/>
                    <a:lstStyle/>
                    <a:p>
                      <a:pPr algn="ctr"/>
                      <a:endParaRPr lang="en-CN" dirty="0">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tcPr>
                </a:tc>
                <a:extLst>
                  <a:ext uri="{0D108BD9-81ED-4DB2-BD59-A6C34878D82A}">
                    <a16:rowId xmlns:a16="http://schemas.microsoft.com/office/drawing/2014/main" val="1258448215"/>
                  </a:ext>
                </a:extLst>
              </a:tr>
              <a:tr h="344161">
                <a:tc vMerge="1">
                  <a:txBody>
                    <a:bodyPr/>
                    <a:lstStyle/>
                    <a:p>
                      <a:endParaRPr lang="en-CN" dirty="0"/>
                    </a:p>
                  </a:txBody>
                  <a:tcPr>
                    <a:lnB w="12700" cap="flat" cmpd="sng" algn="ctr">
                      <a:solidFill>
                        <a:schemeClr val="tx1"/>
                      </a:solidFill>
                      <a:prstDash val="solid"/>
                      <a:round/>
                      <a:headEnd type="none" w="med" len="med"/>
                      <a:tailEnd type="none" w="med" len="med"/>
                    </a:lnB>
                  </a:tcPr>
                </a:tc>
                <a:tc rowSpan="2">
                  <a:txBody>
                    <a:bodyPr/>
                    <a:lstStyle/>
                    <a:p>
                      <a:pPr algn="ctr"/>
                      <a:r>
                        <a:rPr lang="en-CN" b="1" dirty="0">
                          <a:latin typeface="Times New Roman" panose="02020603050405020304" pitchFamily="18" charset="0"/>
                          <a:cs typeface="Times New Roman" panose="02020603050405020304" pitchFamily="18" charset="0"/>
                        </a:rPr>
                        <a:t>exog</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2.66</a:t>
                      </a:r>
                    </a:p>
                  </a:txBody>
                  <a:tcPr>
                    <a:lnL w="12700" cap="flat" cmpd="sng" algn="ctr">
                      <a:solidFill>
                        <a:schemeClr val="tx1"/>
                      </a:solidFill>
                      <a:prstDash val="solid"/>
                      <a:round/>
                      <a:headEnd type="none" w="med" len="med"/>
                      <a:tailEnd type="none" w="med" len="med"/>
                    </a:lnL>
                  </a:tcPr>
                </a:tc>
                <a:tc>
                  <a:txBody>
                    <a:bodyPr/>
                    <a:lstStyle/>
                    <a:p>
                      <a:pPr algn="ctr"/>
                      <a:r>
                        <a:rPr lang="en-CN" dirty="0">
                          <a:latin typeface="Times New Roman" panose="02020603050405020304" pitchFamily="18" charset="0"/>
                          <a:cs typeface="Times New Roman" panose="02020603050405020304" pitchFamily="18" charset="0"/>
                        </a:rPr>
                        <a:t>2.65</a:t>
                      </a:r>
                    </a:p>
                  </a:txBody>
                  <a:tcPr>
                    <a:lnR w="12700" cap="flat" cmpd="sng" algn="ctr">
                      <a:no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dirty="0">
                          <a:latin typeface="Times New Roman" panose="02020603050405020304" pitchFamily="18" charset="0"/>
                          <a:cs typeface="Times New Roman" panose="02020603050405020304" pitchFamily="18" charset="0"/>
                        </a:rPr>
                        <a:t>0.9680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CN" dirty="0">
                          <a:latin typeface="Times New Roman" panose="02020603050405020304" pitchFamily="18" charset="0"/>
                          <a:cs typeface="Times New Roman" panose="02020603050405020304" pitchFamily="18" charset="0"/>
                        </a:rPr>
                        <a:t>2.09</a:t>
                      </a:r>
                    </a:p>
                  </a:txBody>
                  <a:tcPr>
                    <a:lnL w="12700" cap="flat" cmpd="sng" algn="ctr">
                      <a:solidFill>
                        <a:schemeClr val="tx1"/>
                      </a:solidFill>
                      <a:prstDash val="solid"/>
                      <a:round/>
                      <a:headEnd type="none" w="med" len="med"/>
                      <a:tailEnd type="none" w="med" len="med"/>
                    </a:lnL>
                  </a:tcPr>
                </a:tc>
                <a:tc>
                  <a:txBody>
                    <a:bodyPr/>
                    <a:lstStyle/>
                    <a:p>
                      <a:pPr algn="ctr"/>
                      <a:r>
                        <a:rPr lang="en-CN" dirty="0">
                          <a:latin typeface="Times New Roman" panose="02020603050405020304" pitchFamily="18" charset="0"/>
                          <a:cs typeface="Times New Roman" panose="02020603050405020304" pitchFamily="18" charset="0"/>
                        </a:rPr>
                        <a:t>2.46</a:t>
                      </a:r>
                    </a:p>
                  </a:txBody>
                  <a:tcPr/>
                </a:tc>
                <a:tc>
                  <a:txBody>
                    <a:bodyPr/>
                    <a:lstStyle/>
                    <a:p>
                      <a:pPr algn="ctr"/>
                      <a:r>
                        <a:rPr lang="en-CN" dirty="0">
                          <a:latin typeface="Times New Roman" panose="02020603050405020304" pitchFamily="18" charset="0"/>
                          <a:cs typeface="Times New Roman" panose="02020603050405020304" pitchFamily="18" charset="0"/>
                        </a:rPr>
                        <a:t>0.3408</a:t>
                      </a:r>
                    </a:p>
                  </a:txBody>
                  <a:tcPr>
                    <a:lnR w="12700" cap="flat" cmpd="sng" algn="ctr">
                      <a:noFill/>
                      <a:prstDash val="solid"/>
                      <a:round/>
                      <a:headEnd type="none" w="med" len="med"/>
                      <a:tailEnd type="none" w="med" len="med"/>
                    </a:lnR>
                  </a:tcPr>
                </a:tc>
                <a:extLst>
                  <a:ext uri="{0D108BD9-81ED-4DB2-BD59-A6C34878D82A}">
                    <a16:rowId xmlns:a16="http://schemas.microsoft.com/office/drawing/2014/main" val="3669797228"/>
                  </a:ext>
                </a:extLst>
              </a:tr>
              <a:tr h="344161">
                <a:tc vMerge="1">
                  <a:txBody>
                    <a:bodyPr/>
                    <a:lstStyle/>
                    <a:p>
                      <a:pPr algn="ctr"/>
                      <a:endParaRPr lang="en-CN" dirty="0">
                        <a:latin typeface="Times New Roman" panose="02020603050405020304" pitchFamily="18" charset="0"/>
                        <a:cs typeface="Times New Roman" panose="02020603050405020304" pitchFamily="18"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CN" b="1"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(1.78)</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(1.65)</a:t>
                      </a:r>
                    </a:p>
                  </a:txBody>
                  <a:tcPr>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endParaRPr lang="en-CN"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(2.08)</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CN" dirty="0">
                          <a:latin typeface="Times New Roman" panose="02020603050405020304" pitchFamily="18" charset="0"/>
                          <a:cs typeface="Times New Roman" panose="02020603050405020304" pitchFamily="18" charset="0"/>
                        </a:rPr>
                        <a:t>(1.83)</a:t>
                      </a:r>
                    </a:p>
                  </a:txBody>
                  <a:tcPr>
                    <a:lnB w="12700" cap="flat" cmpd="sng" algn="ctr">
                      <a:solidFill>
                        <a:schemeClr val="tx1"/>
                      </a:solidFill>
                      <a:prstDash val="solid"/>
                      <a:round/>
                      <a:headEnd type="none" w="med" len="med"/>
                      <a:tailEnd type="none" w="med" len="med"/>
                    </a:lnB>
                  </a:tcPr>
                </a:tc>
                <a:tc>
                  <a:txBody>
                    <a:bodyPr/>
                    <a:lstStyle/>
                    <a:p>
                      <a:pPr algn="ctr"/>
                      <a:endParaRPr lang="en-CN" dirty="0">
                        <a:latin typeface="Times New Roman" panose="02020603050405020304" pitchFamily="18" charset="0"/>
                        <a:cs typeface="Times New Roman" panose="02020603050405020304" pitchFamily="18" charset="0"/>
                      </a:endParaRPr>
                    </a:p>
                  </a:txBody>
                  <a:tcPr>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0110779"/>
                  </a:ext>
                </a:extLst>
              </a:tr>
            </a:tbl>
          </a:graphicData>
        </a:graphic>
      </p:graphicFrame>
      <p:sp>
        <p:nvSpPr>
          <p:cNvPr id="7" name="TextBox 6">
            <a:extLst>
              <a:ext uri="{FF2B5EF4-FFF2-40B4-BE49-F238E27FC236}">
                <a16:creationId xmlns:a16="http://schemas.microsoft.com/office/drawing/2014/main" id="{26338823-5C90-11F2-C12F-48F0F2A9870F}"/>
              </a:ext>
            </a:extLst>
          </p:cNvPr>
          <p:cNvSpPr txBox="1"/>
          <p:nvPr/>
        </p:nvSpPr>
        <p:spPr>
          <a:xfrm>
            <a:off x="4459702" y="628729"/>
            <a:ext cx="3272596" cy="522737"/>
          </a:xfrm>
          <a:prstGeom prst="rect">
            <a:avLst/>
          </a:prstGeom>
          <a:noFill/>
        </p:spPr>
        <p:txBody>
          <a:bodyPr wrap="square" rtlCol="0">
            <a:spAutoFit/>
          </a:bodyPr>
          <a:lstStyle/>
          <a:p>
            <a:r>
              <a:rPr lang="en-CN" sz="2800" dirty="0">
                <a:latin typeface="Times New Roman" panose="02020603050405020304" pitchFamily="18" charset="0"/>
                <a:cs typeface="Times New Roman" panose="02020603050405020304" pitchFamily="18" charset="0"/>
              </a:rPr>
              <a:t>LAD in</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Lit Market</a:t>
            </a:r>
            <a:endParaRPr lang="en-CN"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EEF874C-0A38-533D-ECE3-166400A97AC0}"/>
              </a:ext>
            </a:extLst>
          </p:cNvPr>
          <p:cNvSpPr txBox="1"/>
          <p:nvPr/>
        </p:nvSpPr>
        <p:spPr>
          <a:xfrm>
            <a:off x="494676" y="5216622"/>
            <a:ext cx="10859124" cy="120032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Dark</a:t>
            </a:r>
            <a:r>
              <a:rPr lang="zh-CN" altLang="en-US"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market access worsens price accuracy in the lit market when information precision is low</a:t>
            </a:r>
            <a:r>
              <a:rPr lang="en-US" dirty="0">
                <a:latin typeface="Times New Roman" panose="02020603050405020304" pitchFamily="18" charset="0"/>
                <a:cs typeface="Times New Roman" panose="02020603050405020304" pitchFamily="18" charset="0"/>
              </a:rPr>
              <a:t>, especially in the early periods and when information acquisition is endogenous. However, this effect becomes weaker over time and is not robust across all treatments. When information precision is high, the differences between Lit</a:t>
            </a:r>
            <a:r>
              <a:rPr lang="zh-CN" alt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only and Lit &amp; Dark markets are small and statistically insignificant.</a:t>
            </a:r>
            <a:endParaRPr lang="en-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3123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83CC4-3735-8E3D-1D25-55D6EFF357B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0CB073-8A9E-4376-FC95-F0C2E8552E7E}"/>
              </a:ext>
            </a:extLst>
          </p:cNvPr>
          <p:cNvSpPr>
            <a:spLocks noGrp="1"/>
          </p:cNvSpPr>
          <p:nvPr>
            <p:ph type="sldNum" sz="quarter" idx="12"/>
          </p:nvPr>
        </p:nvSpPr>
        <p:spPr/>
        <p:txBody>
          <a:bodyPr/>
          <a:lstStyle/>
          <a:p>
            <a:fld id="{9D1E5884-00E0-43AD-8B56-46510891432D}" type="slidenum">
              <a:rPr lang="en-SG" smtClean="0"/>
              <a:t>3</a:t>
            </a:fld>
            <a:endParaRPr lang="en-SG"/>
          </a:p>
        </p:txBody>
      </p:sp>
      <p:graphicFrame>
        <p:nvGraphicFramePr>
          <p:cNvPr id="7" name="Table 6">
            <a:extLst>
              <a:ext uri="{FF2B5EF4-FFF2-40B4-BE49-F238E27FC236}">
                <a16:creationId xmlns:a16="http://schemas.microsoft.com/office/drawing/2014/main" id="{BC2C0460-1A98-A6A8-7A3A-9D7A1AF4521A}"/>
              </a:ext>
            </a:extLst>
          </p:cNvPr>
          <p:cNvGraphicFramePr>
            <a:graphicFrameLocks noGrp="1"/>
          </p:cNvGraphicFramePr>
          <p:nvPr/>
        </p:nvGraphicFramePr>
        <p:xfrm>
          <a:off x="196947" y="453222"/>
          <a:ext cx="11995055" cy="6107315"/>
        </p:xfrm>
        <a:graphic>
          <a:graphicData uri="http://schemas.openxmlformats.org/drawingml/2006/table">
            <a:tbl>
              <a:tblPr/>
              <a:tblGrid>
                <a:gridCol w="2005746">
                  <a:extLst>
                    <a:ext uri="{9D8B030D-6E8A-4147-A177-3AD203B41FA5}">
                      <a16:colId xmlns:a16="http://schemas.microsoft.com/office/drawing/2014/main" val="1356242440"/>
                    </a:ext>
                  </a:extLst>
                </a:gridCol>
                <a:gridCol w="819038">
                  <a:extLst>
                    <a:ext uri="{9D8B030D-6E8A-4147-A177-3AD203B41FA5}">
                      <a16:colId xmlns:a16="http://schemas.microsoft.com/office/drawing/2014/main" val="317295003"/>
                    </a:ext>
                  </a:extLst>
                </a:gridCol>
                <a:gridCol w="833661">
                  <a:extLst>
                    <a:ext uri="{9D8B030D-6E8A-4147-A177-3AD203B41FA5}">
                      <a16:colId xmlns:a16="http://schemas.microsoft.com/office/drawing/2014/main" val="3837979152"/>
                    </a:ext>
                  </a:extLst>
                </a:gridCol>
                <a:gridCol w="833661">
                  <a:extLst>
                    <a:ext uri="{9D8B030D-6E8A-4147-A177-3AD203B41FA5}">
                      <a16:colId xmlns:a16="http://schemas.microsoft.com/office/drawing/2014/main" val="2362194462"/>
                    </a:ext>
                  </a:extLst>
                </a:gridCol>
                <a:gridCol w="833661">
                  <a:extLst>
                    <a:ext uri="{9D8B030D-6E8A-4147-A177-3AD203B41FA5}">
                      <a16:colId xmlns:a16="http://schemas.microsoft.com/office/drawing/2014/main" val="2042390630"/>
                    </a:ext>
                  </a:extLst>
                </a:gridCol>
                <a:gridCol w="833661">
                  <a:extLst>
                    <a:ext uri="{9D8B030D-6E8A-4147-A177-3AD203B41FA5}">
                      <a16:colId xmlns:a16="http://schemas.microsoft.com/office/drawing/2014/main" val="3139299408"/>
                    </a:ext>
                  </a:extLst>
                </a:gridCol>
                <a:gridCol w="833661">
                  <a:extLst>
                    <a:ext uri="{9D8B030D-6E8A-4147-A177-3AD203B41FA5}">
                      <a16:colId xmlns:a16="http://schemas.microsoft.com/office/drawing/2014/main" val="363742749"/>
                    </a:ext>
                  </a:extLst>
                </a:gridCol>
                <a:gridCol w="833661">
                  <a:extLst>
                    <a:ext uri="{9D8B030D-6E8A-4147-A177-3AD203B41FA5}">
                      <a16:colId xmlns:a16="http://schemas.microsoft.com/office/drawing/2014/main" val="1095151625"/>
                    </a:ext>
                  </a:extLst>
                </a:gridCol>
                <a:gridCol w="833661">
                  <a:extLst>
                    <a:ext uri="{9D8B030D-6E8A-4147-A177-3AD203B41FA5}">
                      <a16:colId xmlns:a16="http://schemas.microsoft.com/office/drawing/2014/main" val="1868633703"/>
                    </a:ext>
                  </a:extLst>
                </a:gridCol>
                <a:gridCol w="833661">
                  <a:extLst>
                    <a:ext uri="{9D8B030D-6E8A-4147-A177-3AD203B41FA5}">
                      <a16:colId xmlns:a16="http://schemas.microsoft.com/office/drawing/2014/main" val="102036813"/>
                    </a:ext>
                  </a:extLst>
                </a:gridCol>
                <a:gridCol w="833661">
                  <a:extLst>
                    <a:ext uri="{9D8B030D-6E8A-4147-A177-3AD203B41FA5}">
                      <a16:colId xmlns:a16="http://schemas.microsoft.com/office/drawing/2014/main" val="2925351803"/>
                    </a:ext>
                  </a:extLst>
                </a:gridCol>
                <a:gridCol w="833661">
                  <a:extLst>
                    <a:ext uri="{9D8B030D-6E8A-4147-A177-3AD203B41FA5}">
                      <a16:colId xmlns:a16="http://schemas.microsoft.com/office/drawing/2014/main" val="416806657"/>
                    </a:ext>
                  </a:extLst>
                </a:gridCol>
                <a:gridCol w="833661">
                  <a:extLst>
                    <a:ext uri="{9D8B030D-6E8A-4147-A177-3AD203B41FA5}">
                      <a16:colId xmlns:a16="http://schemas.microsoft.com/office/drawing/2014/main" val="928071437"/>
                    </a:ext>
                  </a:extLst>
                </a:gridCol>
              </a:tblGrid>
              <a:tr h="276066">
                <a:tc>
                  <a:txBody>
                    <a:bodyPr/>
                    <a:lstStyle/>
                    <a:p>
                      <a:pPr algn="ctr" fontAlgn="ct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gridSpan="6">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Endo</a:t>
                      </a:r>
                    </a:p>
                  </a:txBody>
                  <a:tcPr marL="9525" marR="9525" marT="9525" marB="0" anchor="ctr">
                    <a:lnL>
                      <a:noFill/>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CN"/>
                    </a:p>
                  </a:txBody>
                  <a:tcPr/>
                </a:tc>
                <a:tc hMerge="1">
                  <a:txBody>
                    <a:bodyPr/>
                    <a:lstStyle/>
                    <a:p>
                      <a:endParaRPr lang="en-CN"/>
                    </a:p>
                  </a:txBody>
                  <a:tcPr/>
                </a:tc>
                <a:tc hMerge="1">
                  <a:txBody>
                    <a:bodyPr/>
                    <a:lstStyle/>
                    <a:p>
                      <a:pPr algn="ctr" fontAlgn="ct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CN"/>
                    </a:p>
                  </a:txBody>
                  <a:tcPr/>
                </a:tc>
                <a:tc hMerge="1">
                  <a:txBody>
                    <a:bodyPr/>
                    <a:lstStyle/>
                    <a:p>
                      <a:endParaRPr lang="en-CN"/>
                    </a:p>
                  </a:txBody>
                  <a:tcPr/>
                </a:tc>
                <a:tc gridSpan="6">
                  <a:txBody>
                    <a:bodyPr/>
                    <a:lstStyle/>
                    <a:p>
                      <a:pPr algn="ctr" fontAlgn="ctr"/>
                      <a:r>
                        <a:rPr lang="en-SG" sz="1400" b="0" i="0" u="none" strike="noStrike" dirty="0" err="1">
                          <a:solidFill>
                            <a:srgbClr val="000000"/>
                          </a:solidFill>
                          <a:effectLst/>
                          <a:latin typeface="Times New Roman" panose="02020603050405020304" pitchFamily="18" charset="0"/>
                          <a:cs typeface="Times New Roman" panose="02020603050405020304" pitchFamily="18" charset="0"/>
                        </a:rPr>
                        <a:t>Exog</a:t>
                      </a: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CN"/>
                    </a:p>
                  </a:txBody>
                  <a:tcPr/>
                </a:tc>
                <a:tc hMerge="1">
                  <a:txBody>
                    <a:bodyPr/>
                    <a:lstStyle/>
                    <a:p>
                      <a:pPr algn="ctr" fontAlgn="ct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pPr algn="ctr" fontAlgn="ct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CN"/>
                    </a:p>
                  </a:txBody>
                  <a:tcPr/>
                </a:tc>
                <a:tc hMerge="1">
                  <a:txBody>
                    <a:bodyPr/>
                    <a:lstStyle/>
                    <a:p>
                      <a:pPr algn="ctr" fontAlgn="ct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737571279"/>
                  </a:ext>
                </a:extLst>
              </a:tr>
              <a:tr h="276066">
                <a:tc>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3">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L</a:t>
                      </a:r>
                      <a:r>
                        <a:rPr lang="en-US" altLang="zh-CN" sz="1400" b="0" i="0" u="none" strike="noStrike" dirty="0">
                          <a:solidFill>
                            <a:srgbClr val="000000"/>
                          </a:solidFill>
                          <a:effectLst/>
                          <a:latin typeface="Times New Roman" panose="02020603050405020304" pitchFamily="18" charset="0"/>
                          <a:cs typeface="Times New Roman" panose="02020603050405020304" pitchFamily="18" charset="0"/>
                        </a:rPr>
                        <a:t>ow precision</a:t>
                      </a: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CN"/>
                    </a:p>
                  </a:txBody>
                  <a:tcPr/>
                </a:tc>
                <a:tc hMerge="1">
                  <a:txBody>
                    <a:bodyPr/>
                    <a:lstStyle/>
                    <a:p>
                      <a:pPr algn="ctr" fontAlgn="ctr"/>
                      <a:endParaRPr lang="en-SG"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High</a:t>
                      </a:r>
                      <a:r>
                        <a:rPr lang="zh-CN" altLang="en-US"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CN" sz="1400" b="0" i="0" u="none" strike="noStrike" dirty="0">
                          <a:solidFill>
                            <a:srgbClr val="000000"/>
                          </a:solidFill>
                          <a:effectLst/>
                          <a:latin typeface="Times New Roman" panose="02020603050405020304" pitchFamily="18" charset="0"/>
                          <a:cs typeface="Times New Roman" panose="02020603050405020304" pitchFamily="18" charset="0"/>
                        </a:rPr>
                        <a:t>precision</a:t>
                      </a: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CN"/>
                    </a:p>
                  </a:txBody>
                  <a:tcPr/>
                </a:tc>
                <a:tc hMerge="1">
                  <a:txBody>
                    <a:bodyPr/>
                    <a:lstStyle/>
                    <a:p>
                      <a:pPr algn="ctr" fontAlgn="ctr"/>
                      <a:endParaRPr lang="en-SG"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L</a:t>
                      </a:r>
                      <a:r>
                        <a:rPr lang="en-US" altLang="zh-CN" sz="1400" b="0" i="0" u="none" strike="noStrike" dirty="0">
                          <a:solidFill>
                            <a:srgbClr val="000000"/>
                          </a:solidFill>
                          <a:effectLst/>
                          <a:latin typeface="Times New Roman" panose="02020603050405020304" pitchFamily="18" charset="0"/>
                          <a:cs typeface="Times New Roman" panose="02020603050405020304" pitchFamily="18" charset="0"/>
                        </a:rPr>
                        <a:t>ow precision</a:t>
                      </a: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CN"/>
                    </a:p>
                  </a:txBody>
                  <a:tcPr/>
                </a:tc>
                <a:tc hMerge="1">
                  <a:txBody>
                    <a:bodyPr/>
                    <a:lstStyle/>
                    <a:p>
                      <a:pPr algn="ctr" fontAlgn="ctr"/>
                      <a:endParaRPr lang="en-SG"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gridSpan="3">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High</a:t>
                      </a:r>
                      <a:r>
                        <a:rPr lang="zh-CN" altLang="en-US" sz="14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CN" sz="1400" b="0" i="0" u="none" strike="noStrike" dirty="0">
                          <a:solidFill>
                            <a:srgbClr val="000000"/>
                          </a:solidFill>
                          <a:effectLst/>
                          <a:latin typeface="Times New Roman" panose="02020603050405020304" pitchFamily="18" charset="0"/>
                          <a:cs typeface="Times New Roman" panose="02020603050405020304" pitchFamily="18" charset="0"/>
                        </a:rPr>
                        <a:t>precision</a:t>
                      </a: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CN"/>
                    </a:p>
                  </a:txBody>
                  <a:tcPr/>
                </a:tc>
                <a:tc hMerge="1">
                  <a:txBody>
                    <a:bodyPr/>
                    <a:lstStyle/>
                    <a:p>
                      <a:pPr algn="ctr" fontAlgn="ctr"/>
                      <a:endParaRPr lang="en-SG"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59492055"/>
                  </a:ext>
                </a:extLst>
              </a:tr>
              <a:tr h="276066">
                <a:tc>
                  <a:txBody>
                    <a:bodyPr/>
                    <a:lstStyle/>
                    <a:p>
                      <a:pPr algn="ctr" fontAlgn="ct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(11)</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(12)</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3078104"/>
                  </a:ext>
                </a:extLst>
              </a:tr>
              <a:tr h="276066">
                <a:tc rowSpan="2">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Dark</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0.365</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-0.0172</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-0.0216</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0.178</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highlight>
                            <a:srgbClr val="FFFF00"/>
                          </a:highlight>
                          <a:latin typeface="Times New Roman" panose="02020603050405020304" pitchFamily="18" charset="0"/>
                          <a:cs typeface="Times New Roman" panose="02020603050405020304" pitchFamily="18" charset="0"/>
                        </a:rPr>
                        <a:t>-0.749**</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highlight>
                            <a:srgbClr val="FFFF00"/>
                          </a:highlight>
                          <a:latin typeface="Times New Roman" panose="02020603050405020304" pitchFamily="18" charset="0"/>
                          <a:cs typeface="Times New Roman" panose="02020603050405020304" pitchFamily="18" charset="0"/>
                        </a:rPr>
                        <a:t>-0.580**</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highlight>
                            <a:srgbClr val="FFFF00"/>
                          </a:highlight>
                          <a:latin typeface="Times New Roman" panose="02020603050405020304" pitchFamily="18" charset="0"/>
                          <a:cs typeface="Times New Roman" panose="02020603050405020304" pitchFamily="18" charset="0"/>
                        </a:rPr>
                        <a:t>0.682**</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highlight>
                            <a:srgbClr val="FFFF00"/>
                          </a:highlight>
                          <a:latin typeface="Times New Roman" panose="02020603050405020304" pitchFamily="18" charset="0"/>
                          <a:cs typeface="Times New Roman" panose="02020603050405020304" pitchFamily="18" charset="0"/>
                        </a:rPr>
                        <a:t>0.559**</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highlight>
                            <a:srgbClr val="FFFF00"/>
                          </a:highlight>
                          <a:latin typeface="Times New Roman" panose="02020603050405020304" pitchFamily="18" charset="0"/>
                          <a:cs typeface="Times New Roman" panose="02020603050405020304" pitchFamily="18" charset="0"/>
                        </a:rPr>
                        <a:t>0.832***</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0.464</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-0.387</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0.143</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64369600"/>
                  </a:ext>
                </a:extLst>
              </a:tr>
              <a:tr h="276066">
                <a:tc vMerge="1">
                  <a:txBody>
                    <a:bodyPr/>
                    <a:lstStyle/>
                    <a:p>
                      <a:endParaRPr lang="en-SG"/>
                    </a:p>
                  </a:txBody>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(0.278)</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(0.353)</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(0.297)</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(0.426)</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(0.260)</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(0.249)</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(0.205)</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(0.185)</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(0.234)</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(0.642)</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(0.555)</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(0.670)</a:t>
                      </a:r>
                    </a:p>
                  </a:txBody>
                  <a:tcPr marL="9525" marR="9525" marT="9525" marB="0" anchor="b">
                    <a:lnL>
                      <a:noFill/>
                    </a:lnL>
                    <a:lnR>
                      <a:noFill/>
                    </a:lnR>
                    <a:lnT>
                      <a:noFill/>
                    </a:lnT>
                    <a:lnB>
                      <a:noFill/>
                    </a:lnB>
                  </a:tcPr>
                </a:tc>
                <a:extLst>
                  <a:ext uri="{0D108BD9-81ED-4DB2-BD59-A6C34878D82A}">
                    <a16:rowId xmlns:a16="http://schemas.microsoft.com/office/drawing/2014/main" val="3737154403"/>
                  </a:ext>
                </a:extLst>
              </a:tr>
              <a:tr h="264879">
                <a:tc rowSpan="2">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Sum of signals acquired</a:t>
                      </a:r>
                    </a:p>
                  </a:txBody>
                  <a:tcPr marL="9525" marR="9525" marT="9525" marB="0" anchor="ctr">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0.0406**</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-0.0539***</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-0.0244*</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-0.0457</a:t>
                      </a:r>
                    </a:p>
                  </a:txBody>
                  <a:tcPr marL="9525" marR="9525" marT="9525" marB="0" anchor="b">
                    <a:lnL>
                      <a:noFill/>
                    </a:lnL>
                    <a:lnR>
                      <a:noFill/>
                    </a:lnR>
                    <a:lnT>
                      <a:noFill/>
                    </a:lnT>
                    <a:lnB>
                      <a:noFill/>
                    </a:lnB>
                  </a:tcPr>
                </a:tc>
                <a:extLst>
                  <a:ext uri="{0D108BD9-81ED-4DB2-BD59-A6C34878D82A}">
                    <a16:rowId xmlns:a16="http://schemas.microsoft.com/office/drawing/2014/main" val="2504280596"/>
                  </a:ext>
                </a:extLst>
              </a:tr>
              <a:tr h="276066">
                <a:tc vMerge="1">
                  <a:txBody>
                    <a:bodyPr/>
                    <a:lstStyle/>
                    <a:p>
                      <a:pPr algn="ctr" fontAlgn="ctr"/>
                      <a:endParaRPr lang="en-SG"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(0.0133)</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(0.0137)</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(0.0124)</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(0.0319)</a:t>
                      </a:r>
                    </a:p>
                  </a:txBody>
                  <a:tcPr marL="9525" marR="9525" marT="9525" marB="0" anchor="b">
                    <a:lnL>
                      <a:noFill/>
                    </a:lnL>
                    <a:lnR>
                      <a:noFill/>
                    </a:lnR>
                    <a:lnT>
                      <a:noFill/>
                    </a:lnT>
                    <a:lnB>
                      <a:noFill/>
                    </a:lnB>
                  </a:tcPr>
                </a:tc>
                <a:extLst>
                  <a:ext uri="{0D108BD9-81ED-4DB2-BD59-A6C34878D82A}">
                    <a16:rowId xmlns:a16="http://schemas.microsoft.com/office/drawing/2014/main" val="4120566130"/>
                  </a:ext>
                </a:extLst>
              </a:tr>
              <a:tr h="276066">
                <a:tc rowSpan="2">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Age</a:t>
                      </a:r>
                    </a:p>
                  </a:txBody>
                  <a:tcPr marL="9525" marR="9525" marT="9525" marB="0" anchor="ctr">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0.489</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0.647**</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0.895***</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0.891***</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-0.336</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-0.709*</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-0.249</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-0.330</a:t>
                      </a:r>
                    </a:p>
                  </a:txBody>
                  <a:tcPr marL="9525" marR="9525" marT="9525" marB="0" anchor="b">
                    <a:lnL>
                      <a:noFill/>
                    </a:lnL>
                    <a:lnR>
                      <a:noFill/>
                    </a:lnR>
                    <a:lnT>
                      <a:noFill/>
                    </a:lnT>
                    <a:lnB>
                      <a:noFill/>
                    </a:lnB>
                  </a:tcPr>
                </a:tc>
                <a:extLst>
                  <a:ext uri="{0D108BD9-81ED-4DB2-BD59-A6C34878D82A}">
                    <a16:rowId xmlns:a16="http://schemas.microsoft.com/office/drawing/2014/main" val="594770395"/>
                  </a:ext>
                </a:extLst>
              </a:tr>
              <a:tr h="276066">
                <a:tc vMerge="1">
                  <a:txBody>
                    <a:bodyPr/>
                    <a:lstStyle/>
                    <a:p>
                      <a:endParaRPr lang="en-SG"/>
                    </a:p>
                  </a:txBody>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(0.279)</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(0.248)</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(0.174)</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(0.176)</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(0.236)</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(0.318)</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(0.340)</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(0.355)</a:t>
                      </a:r>
                    </a:p>
                  </a:txBody>
                  <a:tcPr marL="9525" marR="9525" marT="9525" marB="0" anchor="b">
                    <a:lnL>
                      <a:noFill/>
                    </a:lnL>
                    <a:lnR>
                      <a:noFill/>
                    </a:lnR>
                    <a:lnT>
                      <a:noFill/>
                    </a:lnT>
                    <a:lnB>
                      <a:noFill/>
                    </a:lnB>
                  </a:tcPr>
                </a:tc>
                <a:extLst>
                  <a:ext uri="{0D108BD9-81ED-4DB2-BD59-A6C34878D82A}">
                    <a16:rowId xmlns:a16="http://schemas.microsoft.com/office/drawing/2014/main" val="1085318177"/>
                  </a:ext>
                </a:extLst>
              </a:tr>
              <a:tr h="276066">
                <a:tc rowSpan="2">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Gender</a:t>
                      </a:r>
                    </a:p>
                  </a:txBody>
                  <a:tcPr marL="9525" marR="9525" marT="9525" marB="0" anchor="ctr">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-0.209</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1.799</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2.225</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-0.645</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-5.555*</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-9.733**</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9.349***</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8.408***</a:t>
                      </a:r>
                    </a:p>
                  </a:txBody>
                  <a:tcPr marL="9525" marR="9525" marT="9525" marB="0" anchor="b">
                    <a:lnL>
                      <a:noFill/>
                    </a:lnL>
                    <a:lnR>
                      <a:noFill/>
                    </a:lnR>
                    <a:lnT>
                      <a:noFill/>
                    </a:lnT>
                    <a:lnB>
                      <a:noFill/>
                    </a:lnB>
                  </a:tcPr>
                </a:tc>
                <a:extLst>
                  <a:ext uri="{0D108BD9-81ED-4DB2-BD59-A6C34878D82A}">
                    <a16:rowId xmlns:a16="http://schemas.microsoft.com/office/drawing/2014/main" val="3747248473"/>
                  </a:ext>
                </a:extLst>
              </a:tr>
              <a:tr h="276066">
                <a:tc vMerge="1">
                  <a:txBody>
                    <a:bodyPr/>
                    <a:lstStyle/>
                    <a:p>
                      <a:endParaRPr lang="en-SG"/>
                    </a:p>
                  </a:txBody>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(0.730)</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(1.041)</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(2.388)</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(2.661)</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(2.880)</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(3.504)</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(1.848)</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(1.772)</a:t>
                      </a:r>
                    </a:p>
                  </a:txBody>
                  <a:tcPr marL="9525" marR="9525" marT="9525" marB="0" anchor="b">
                    <a:lnL>
                      <a:noFill/>
                    </a:lnL>
                    <a:lnR>
                      <a:noFill/>
                    </a:lnR>
                    <a:lnT>
                      <a:noFill/>
                    </a:lnT>
                    <a:lnB>
                      <a:noFill/>
                    </a:lnB>
                  </a:tcPr>
                </a:tc>
                <a:extLst>
                  <a:ext uri="{0D108BD9-81ED-4DB2-BD59-A6C34878D82A}">
                    <a16:rowId xmlns:a16="http://schemas.microsoft.com/office/drawing/2014/main" val="1497685829"/>
                  </a:ext>
                </a:extLst>
              </a:tr>
              <a:tr h="269988">
                <a:tc rowSpan="2">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Major in Econ</a:t>
                      </a:r>
                    </a:p>
                  </a:txBody>
                  <a:tcPr marL="9525" marR="9525" marT="9525" marB="0" anchor="ctr">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-0.890</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0.988</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-2.498**</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-3.892***</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2.853</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5.955*</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-10.22***</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-8.980***</a:t>
                      </a:r>
                    </a:p>
                  </a:txBody>
                  <a:tcPr marL="9525" marR="9525" marT="9525" marB="0" anchor="b">
                    <a:lnL>
                      <a:noFill/>
                    </a:lnL>
                    <a:lnR>
                      <a:noFill/>
                    </a:lnR>
                    <a:lnT>
                      <a:noFill/>
                    </a:lnT>
                    <a:lnB>
                      <a:noFill/>
                    </a:lnB>
                  </a:tcPr>
                </a:tc>
                <a:extLst>
                  <a:ext uri="{0D108BD9-81ED-4DB2-BD59-A6C34878D82A}">
                    <a16:rowId xmlns:a16="http://schemas.microsoft.com/office/drawing/2014/main" val="3205867706"/>
                  </a:ext>
                </a:extLst>
              </a:tr>
              <a:tr h="276066">
                <a:tc vMerge="1">
                  <a:txBody>
                    <a:bodyPr/>
                    <a:lstStyle/>
                    <a:p>
                      <a:endParaRPr lang="en-SG"/>
                    </a:p>
                  </a:txBody>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(0.566)</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(1.021)</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(1.061)</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(1.129)</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(2.014)</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(2.566)</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(1.877)</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(1.644)</a:t>
                      </a:r>
                    </a:p>
                  </a:txBody>
                  <a:tcPr marL="9525" marR="9525" marT="9525" marB="0" anchor="b">
                    <a:lnL>
                      <a:noFill/>
                    </a:lnL>
                    <a:lnR>
                      <a:noFill/>
                    </a:lnR>
                    <a:lnT>
                      <a:noFill/>
                    </a:lnT>
                    <a:lnB>
                      <a:noFill/>
                    </a:lnB>
                  </a:tcPr>
                </a:tc>
                <a:extLst>
                  <a:ext uri="{0D108BD9-81ED-4DB2-BD59-A6C34878D82A}">
                    <a16:rowId xmlns:a16="http://schemas.microsoft.com/office/drawing/2014/main" val="610022908"/>
                  </a:ext>
                </a:extLst>
              </a:tr>
              <a:tr h="269988">
                <a:tc rowSpan="2">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Risk Aversion</a:t>
                      </a:r>
                    </a:p>
                  </a:txBody>
                  <a:tcPr marL="9525" marR="9525" marT="9525" marB="0" anchor="ctr">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0.130</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-0.412*</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-0.882***</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-0.970***</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-0.0205</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-0.135</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-1.769***</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-1.641***</a:t>
                      </a:r>
                    </a:p>
                  </a:txBody>
                  <a:tcPr marL="9525" marR="9525" marT="9525" marB="0" anchor="b">
                    <a:lnL>
                      <a:noFill/>
                    </a:lnL>
                    <a:lnR>
                      <a:noFill/>
                    </a:lnR>
                    <a:lnT>
                      <a:noFill/>
                    </a:lnT>
                    <a:lnB>
                      <a:noFill/>
                    </a:lnB>
                  </a:tcPr>
                </a:tc>
                <a:extLst>
                  <a:ext uri="{0D108BD9-81ED-4DB2-BD59-A6C34878D82A}">
                    <a16:rowId xmlns:a16="http://schemas.microsoft.com/office/drawing/2014/main" val="3857497925"/>
                  </a:ext>
                </a:extLst>
              </a:tr>
              <a:tr h="276066">
                <a:tc vMerge="1">
                  <a:txBody>
                    <a:bodyPr/>
                    <a:lstStyle/>
                    <a:p>
                      <a:endParaRPr lang="en-SG"/>
                    </a:p>
                  </a:txBody>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(0.147)</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(0.207)</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(0.249)</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(0.221)</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(0.131)</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(0.131)</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(0.447)</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(0.380)</a:t>
                      </a:r>
                    </a:p>
                  </a:txBody>
                  <a:tcPr marL="9525" marR="9525" marT="9525" marB="0" anchor="b">
                    <a:lnL>
                      <a:noFill/>
                    </a:lnL>
                    <a:lnR>
                      <a:noFill/>
                    </a:lnR>
                    <a:lnT>
                      <a:noFill/>
                    </a:lnT>
                    <a:lnB>
                      <a:noFill/>
                    </a:lnB>
                  </a:tcPr>
                </a:tc>
                <a:extLst>
                  <a:ext uri="{0D108BD9-81ED-4DB2-BD59-A6C34878D82A}">
                    <a16:rowId xmlns:a16="http://schemas.microsoft.com/office/drawing/2014/main" val="2722339590"/>
                  </a:ext>
                </a:extLst>
              </a:tr>
              <a:tr h="337609">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cs typeface="Times New Roman" panose="02020603050405020304" pitchFamily="18" charset="0"/>
                        </a:rPr>
                        <a:t>Period</a:t>
                      </a:r>
                      <a:r>
                        <a:rPr lang="zh-CN" altLang="en-US" sz="1400" b="0" i="0" u="none" strike="noStrike" dirty="0">
                          <a:solidFill>
                            <a:srgbClr val="000000"/>
                          </a:solidFill>
                          <a:effectLst/>
                          <a:latin typeface="Times New Roman" panose="02020603050405020304" pitchFamily="18" charset="0"/>
                          <a:cs typeface="Times New Roman" panose="02020603050405020304" pitchFamily="18" charset="0"/>
                        </a:rPr>
                        <a:t> </a:t>
                      </a:r>
                      <a:endParaRPr lang="en-US" altLang="zh-C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-0.0140</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-0.0140</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-0.0266</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-0.117***</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-0.117***</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-0.137***</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0.0105</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0.0105</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0.0144</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-0.0798**</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-0.0798**</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-0.0895**</a:t>
                      </a:r>
                    </a:p>
                  </a:txBody>
                  <a:tcPr marL="9525" marR="9525" marT="9525" marB="0" anchor="b">
                    <a:lnL>
                      <a:noFill/>
                    </a:lnL>
                    <a:lnR>
                      <a:noFill/>
                    </a:lnR>
                    <a:lnT>
                      <a:noFill/>
                    </a:lnT>
                    <a:lnB>
                      <a:noFill/>
                    </a:lnB>
                  </a:tcPr>
                </a:tc>
                <a:extLst>
                  <a:ext uri="{0D108BD9-81ED-4DB2-BD59-A6C34878D82A}">
                    <a16:rowId xmlns:a16="http://schemas.microsoft.com/office/drawing/2014/main" val="3599047806"/>
                  </a:ext>
                </a:extLst>
              </a:tr>
              <a:tr h="276066">
                <a:tc vMerge="1">
                  <a:txBody>
                    <a:bodyPr/>
                    <a:lstStyle/>
                    <a:p>
                      <a:endParaRPr dirty="0"/>
                    </a:p>
                  </a:txBody>
                  <a:tcPr marL="9525" marR="9525" marT="9525" marB="0" anchor="ct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(0.0132)</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(0.0133)</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(0.0164)</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(0.0299)</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(0.0302)</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(0.0272)</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(0.0138)</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(0.0140)</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(0.0141)</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(0.0253)</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(0.0256)</a:t>
                      </a:r>
                    </a:p>
                  </a:txBody>
                  <a:tcPr marL="9525" marR="9525" marT="9525" marB="0" anchor="b">
                    <a:lnL>
                      <a:noFill/>
                    </a:lnL>
                    <a:lnR>
                      <a:noFill/>
                    </a:lnR>
                    <a:lnT>
                      <a:noFill/>
                    </a:lnT>
                    <a:lnB w="6350" cap="flat" cmpd="sng" algn="ctr">
                      <a:no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(0.0312)</a:t>
                      </a:r>
                    </a:p>
                  </a:txBody>
                  <a:tcPr marL="9525" marR="9525" marT="9525" marB="0" anchor="b">
                    <a:lnL>
                      <a:noFill/>
                    </a:lnL>
                    <a:lnR>
                      <a:noFill/>
                    </a:lnR>
                    <a:lnT>
                      <a:noFill/>
                    </a:lnT>
                    <a:lnB w="6350" cap="flat" cmpd="sng" algn="ctr">
                      <a:noFill/>
                      <a:prstDash val="solid"/>
                      <a:round/>
                      <a:headEnd type="none" w="med" len="med"/>
                      <a:tailEnd type="none" w="med" len="med"/>
                    </a:lnB>
                  </a:tcPr>
                </a:tc>
                <a:extLst>
                  <a:ext uri="{0D108BD9-81ED-4DB2-BD59-A6C34878D82A}">
                    <a16:rowId xmlns:a16="http://schemas.microsoft.com/office/drawing/2014/main" val="377288059"/>
                  </a:ext>
                </a:extLst>
              </a:tr>
              <a:tr h="276066">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400" b="0" i="0" u="none" strike="noStrike" dirty="0">
                          <a:solidFill>
                            <a:srgbClr val="000000"/>
                          </a:solidFill>
                          <a:effectLst/>
                          <a:latin typeface="Times New Roman" panose="02020603050405020304" pitchFamily="18" charset="0"/>
                          <a:cs typeface="Times New Roman" panose="02020603050405020304" pitchFamily="18" charset="0"/>
                        </a:rPr>
                        <a:t>Constant </a:t>
                      </a:r>
                    </a:p>
                  </a:txBody>
                  <a:tcPr marL="9525" marR="9525" marT="9525" marB="0" anchor="ctr">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3.199***</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-7.889</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-10.71*</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3.354***</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-10.79**</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-6.465</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2.698***</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11.96</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22.56**</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2.841***</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20.55*</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22.75**</a:t>
                      </a:r>
                    </a:p>
                  </a:txBody>
                  <a:tcPr marL="9525" marR="9525" marT="9525" marB="0" anchor="b">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41465376"/>
                  </a:ext>
                </a:extLst>
              </a:tr>
              <a:tr h="276066">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zh-C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(0.299)</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(6.066)</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(5.515)</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(0.439)</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(3.790)</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(4.522)</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(0.268)</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(6.492)</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(8.690)</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(0.550)</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(8.708)</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(9.316)</a:t>
                      </a:r>
                    </a:p>
                  </a:txBody>
                  <a:tcPr marL="9525" marR="9525" marT="9525" marB="0" anchor="b">
                    <a:lnL>
                      <a:noFill/>
                    </a:lnL>
                    <a:lnR>
                      <a:noFill/>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75815302"/>
                  </a:ext>
                </a:extLst>
              </a:tr>
              <a:tr h="276066">
                <a:tc>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Observations</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240</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240</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240</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238</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238</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238</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160</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160</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160</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160</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160</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160</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3673023453"/>
                  </a:ext>
                </a:extLst>
              </a:tr>
              <a:tr h="276066">
                <a:tc>
                  <a:txBody>
                    <a:bodyPr/>
                    <a:lstStyle/>
                    <a:p>
                      <a:pPr algn="ctr" fontAlgn="ctr"/>
                      <a:r>
                        <a:rPr lang="en-SG" sz="1400" b="0" i="0" u="none" strike="noStrike">
                          <a:solidFill>
                            <a:srgbClr val="000000"/>
                          </a:solidFill>
                          <a:effectLst/>
                          <a:latin typeface="Times New Roman" panose="02020603050405020304" pitchFamily="18" charset="0"/>
                          <a:cs typeface="Times New Roman" panose="02020603050405020304" pitchFamily="18" charset="0"/>
                        </a:rPr>
                        <a:t>Clusters</a:t>
                      </a:r>
                    </a:p>
                  </a:txBody>
                  <a:tcPr marL="9525" marR="9525" marT="9525" marB="0" anchor="ctr">
                    <a:lnL>
                      <a:noFill/>
                    </a:lnL>
                    <a:lnR>
                      <a:noFill/>
                    </a:lnR>
                    <a:lnT>
                      <a:noFill/>
                    </a:lnT>
                    <a:lnB>
                      <a:noFill/>
                    </a:lnB>
                  </a:tcPr>
                </a:tc>
                <a:tc>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12</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12</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12</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12</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12</a:t>
                      </a:r>
                      <a:endPar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12</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8</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8</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8</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8</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8</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8</a:t>
                      </a:r>
                    </a:p>
                  </a:txBody>
                  <a:tcPr marL="9525" marR="9525" marT="9525" marB="0" anchor="ctr">
                    <a:lnL>
                      <a:noFill/>
                    </a:lnL>
                    <a:lnR>
                      <a:noFill/>
                    </a:lnR>
                    <a:lnT>
                      <a:noFill/>
                    </a:lnT>
                    <a:lnB>
                      <a:noFill/>
                    </a:lnB>
                  </a:tcPr>
                </a:tc>
                <a:extLst>
                  <a:ext uri="{0D108BD9-81ED-4DB2-BD59-A6C34878D82A}">
                    <a16:rowId xmlns:a16="http://schemas.microsoft.com/office/drawing/2014/main" val="983313983"/>
                  </a:ext>
                </a:extLst>
              </a:tr>
              <a:tr h="271729">
                <a:tc>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R-squared</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0.016</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0.037</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0.072</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0.119</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0.209</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0.235</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0.044</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0.057</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0.066</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0.081</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0.209</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0.223</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2592983"/>
                  </a:ext>
                </a:extLst>
              </a:tr>
            </a:tbl>
          </a:graphicData>
        </a:graphic>
      </p:graphicFrame>
      <p:sp>
        <p:nvSpPr>
          <p:cNvPr id="9" name="TextBox 8">
            <a:extLst>
              <a:ext uri="{FF2B5EF4-FFF2-40B4-BE49-F238E27FC236}">
                <a16:creationId xmlns:a16="http://schemas.microsoft.com/office/drawing/2014/main" id="{56F91728-A702-34EA-AB4F-4067E1DE63DE}"/>
              </a:ext>
            </a:extLst>
          </p:cNvPr>
          <p:cNvSpPr txBox="1"/>
          <p:nvPr/>
        </p:nvSpPr>
        <p:spPr>
          <a:xfrm>
            <a:off x="3181645" y="83882"/>
            <a:ext cx="784390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Table VI OLS Regression of LAD in</a:t>
            </a:r>
            <a:r>
              <a:rPr lang="zh-CN" altLang="en-US"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the Lit Market (ENDO VS. EXOG)</a:t>
            </a:r>
            <a:endParaRPr lang="en-CN" dirty="0"/>
          </a:p>
        </p:txBody>
      </p:sp>
    </p:spTree>
    <p:extLst>
      <p:ext uri="{BB962C8B-B14F-4D97-AF65-F5344CB8AC3E}">
        <p14:creationId xmlns:p14="http://schemas.microsoft.com/office/powerpoint/2010/main" val="1395572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BCC61-CC82-6CCA-7184-3CFD0B05C74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86D151-D15F-8CCF-623E-DFFA6F31FC56}"/>
              </a:ext>
            </a:extLst>
          </p:cNvPr>
          <p:cNvSpPr>
            <a:spLocks noGrp="1"/>
          </p:cNvSpPr>
          <p:nvPr>
            <p:ph type="sldNum" sz="quarter" idx="12"/>
          </p:nvPr>
        </p:nvSpPr>
        <p:spPr/>
        <p:txBody>
          <a:bodyPr/>
          <a:lstStyle/>
          <a:p>
            <a:fld id="{9D1E5884-00E0-43AD-8B56-46510891432D}" type="slidenum">
              <a:rPr lang="en-SG" smtClean="0"/>
              <a:t>4</a:t>
            </a:fld>
            <a:endParaRPr lang="en-SG"/>
          </a:p>
        </p:txBody>
      </p:sp>
      <p:graphicFrame>
        <p:nvGraphicFramePr>
          <p:cNvPr id="5" name="Table 4">
            <a:extLst>
              <a:ext uri="{FF2B5EF4-FFF2-40B4-BE49-F238E27FC236}">
                <a16:creationId xmlns:a16="http://schemas.microsoft.com/office/drawing/2014/main" id="{924B1157-224D-FCDA-6B57-CB0CD839D405}"/>
              </a:ext>
            </a:extLst>
          </p:cNvPr>
          <p:cNvGraphicFramePr>
            <a:graphicFrameLocks noGrp="1"/>
          </p:cNvGraphicFramePr>
          <p:nvPr/>
        </p:nvGraphicFramePr>
        <p:xfrm>
          <a:off x="145561" y="743769"/>
          <a:ext cx="7747000" cy="5331276"/>
        </p:xfrm>
        <a:graphic>
          <a:graphicData uri="http://schemas.openxmlformats.org/drawingml/2006/table">
            <a:tbl>
              <a:tblPr/>
              <a:tblGrid>
                <a:gridCol w="2917613">
                  <a:extLst>
                    <a:ext uri="{9D8B030D-6E8A-4147-A177-3AD203B41FA5}">
                      <a16:colId xmlns:a16="http://schemas.microsoft.com/office/drawing/2014/main" val="1047059644"/>
                    </a:ext>
                  </a:extLst>
                </a:gridCol>
                <a:gridCol w="1191392">
                  <a:extLst>
                    <a:ext uri="{9D8B030D-6E8A-4147-A177-3AD203B41FA5}">
                      <a16:colId xmlns:a16="http://schemas.microsoft.com/office/drawing/2014/main" val="4175474367"/>
                    </a:ext>
                  </a:extLst>
                </a:gridCol>
                <a:gridCol w="1212665">
                  <a:extLst>
                    <a:ext uri="{9D8B030D-6E8A-4147-A177-3AD203B41FA5}">
                      <a16:colId xmlns:a16="http://schemas.microsoft.com/office/drawing/2014/main" val="3843637263"/>
                    </a:ext>
                  </a:extLst>
                </a:gridCol>
                <a:gridCol w="1212665">
                  <a:extLst>
                    <a:ext uri="{9D8B030D-6E8A-4147-A177-3AD203B41FA5}">
                      <a16:colId xmlns:a16="http://schemas.microsoft.com/office/drawing/2014/main" val="156760376"/>
                    </a:ext>
                  </a:extLst>
                </a:gridCol>
                <a:gridCol w="1212665">
                  <a:extLst>
                    <a:ext uri="{9D8B030D-6E8A-4147-A177-3AD203B41FA5}">
                      <a16:colId xmlns:a16="http://schemas.microsoft.com/office/drawing/2014/main" val="3477042654"/>
                    </a:ext>
                  </a:extLst>
                </a:gridCol>
              </a:tblGrid>
              <a:tr h="254469">
                <a:tc>
                  <a:txBody>
                    <a:bodyPr/>
                    <a:lstStyle/>
                    <a:p>
                      <a:pPr algn="ctr" fontAlgn="ctr"/>
                      <a:r>
                        <a:rPr lang="en-SG" sz="1400" b="0" i="0" u="none" strike="noStrike" dirty="0">
                          <a:solidFill>
                            <a:srgbClr val="000000"/>
                          </a:solidFill>
                          <a:effectLst/>
                          <a:latin typeface="Times New Roman" panose="02020603050405020304" pitchFamily="18" charset="0"/>
                        </a:rPr>
                        <a:t> </a:t>
                      </a: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gridSpan="2">
                  <a:txBody>
                    <a:bodyPr/>
                    <a:lstStyle/>
                    <a:p>
                      <a:pPr algn="ctr" fontAlgn="ctr"/>
                      <a:r>
                        <a:rPr lang="en-SG" sz="1400" b="0" i="0" u="none" strike="noStrike" dirty="0">
                          <a:solidFill>
                            <a:srgbClr val="000000"/>
                          </a:solidFill>
                          <a:effectLst/>
                          <a:latin typeface="Times New Roman" panose="02020603050405020304" pitchFamily="18" charset="0"/>
                        </a:rPr>
                        <a:t>L</a:t>
                      </a:r>
                      <a:r>
                        <a:rPr lang="en-US" altLang="zh-CN" sz="1400" b="0" i="0" u="none" strike="noStrike" dirty="0">
                          <a:solidFill>
                            <a:srgbClr val="000000"/>
                          </a:solidFill>
                          <a:effectLst/>
                          <a:latin typeface="Times New Roman" panose="02020603050405020304" pitchFamily="18" charset="0"/>
                        </a:rPr>
                        <a:t>ow precision</a:t>
                      </a:r>
                      <a:endParaRPr lang="en-SG"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SG"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ctr"/>
                      <a:r>
                        <a:rPr lang="en-SG" sz="1400" b="0" i="0" u="none" strike="noStrike" dirty="0">
                          <a:solidFill>
                            <a:srgbClr val="000000"/>
                          </a:solidFill>
                          <a:effectLst/>
                          <a:latin typeface="Times New Roman" panose="02020603050405020304" pitchFamily="18" charset="0"/>
                        </a:rPr>
                        <a:t>High</a:t>
                      </a:r>
                      <a:r>
                        <a:rPr lang="zh-CN" altLang="en-US" sz="1400" b="0" i="0" u="none" strike="noStrike" dirty="0">
                          <a:solidFill>
                            <a:srgbClr val="000000"/>
                          </a:solidFill>
                          <a:effectLst/>
                          <a:latin typeface="Times New Roman" panose="02020603050405020304" pitchFamily="18" charset="0"/>
                        </a:rPr>
                        <a:t> </a:t>
                      </a:r>
                      <a:r>
                        <a:rPr lang="en-US" altLang="zh-CN" sz="1400" b="0" i="0" u="none" strike="noStrike" dirty="0">
                          <a:solidFill>
                            <a:srgbClr val="000000"/>
                          </a:solidFill>
                          <a:effectLst/>
                          <a:latin typeface="Times New Roman" panose="02020603050405020304" pitchFamily="18" charset="0"/>
                        </a:rPr>
                        <a:t>precision</a:t>
                      </a:r>
                      <a:endParaRPr lang="en-SG"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pPr algn="ctr" fontAlgn="ctr"/>
                      <a:endParaRPr lang="en-SG"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3260617"/>
                  </a:ext>
                </a:extLst>
              </a:tr>
              <a:tr h="254469">
                <a:tc>
                  <a:txBody>
                    <a:bodyPr/>
                    <a:lstStyle/>
                    <a:p>
                      <a:pPr algn="ctr" fontAlgn="ctr"/>
                      <a:endParaRPr lang="en-SG"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SG" sz="1400" b="0" i="0" u="none" strike="noStrike" dirty="0">
                          <a:solidFill>
                            <a:srgbClr val="000000"/>
                          </a:solidFill>
                          <a:effectLst/>
                          <a:latin typeface="Times New Roman" panose="02020603050405020304" pitchFamily="18" charset="0"/>
                        </a:rPr>
                        <a:t>(1)</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SG" sz="1400" b="0" i="0" u="none" strike="noStrike" dirty="0">
                          <a:solidFill>
                            <a:srgbClr val="000000"/>
                          </a:solidFill>
                          <a:effectLst/>
                          <a:latin typeface="Times New Roman" panose="02020603050405020304" pitchFamily="18" charset="0"/>
                        </a:rPr>
                        <a:t>(2)</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SG" sz="1400" b="0" i="0" u="none" strike="noStrike" dirty="0">
                          <a:solidFill>
                            <a:srgbClr val="000000"/>
                          </a:solidFill>
                          <a:effectLst/>
                          <a:latin typeface="Times New Roman" panose="02020603050405020304" pitchFamily="18" charset="0"/>
                        </a:rPr>
                        <a:t>(3)</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SG" sz="1400" b="0" i="0" u="none" strike="noStrike" dirty="0">
                          <a:solidFill>
                            <a:srgbClr val="000000"/>
                          </a:solidFill>
                          <a:effectLst/>
                          <a:latin typeface="Times New Roman" panose="02020603050405020304" pitchFamily="18" charset="0"/>
                        </a:rPr>
                        <a:t>(4)</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20409"/>
                  </a:ext>
                </a:extLst>
              </a:tr>
              <a:tr h="254469">
                <a:tc rowSpan="2">
                  <a:txBody>
                    <a:bodyPr/>
                    <a:lstStyle/>
                    <a:p>
                      <a:pPr algn="ctr" fontAlgn="ctr"/>
                      <a:r>
                        <a:rPr lang="en-SG" sz="1400" b="0" i="0" u="none" strike="noStrike" dirty="0">
                          <a:solidFill>
                            <a:srgbClr val="000000"/>
                          </a:solidFill>
                          <a:effectLst/>
                          <a:latin typeface="Times New Roman" panose="02020603050405020304" pitchFamily="18" charset="0"/>
                        </a:rPr>
                        <a:t>Dark</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0.704**</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0.581*</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0.586</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-0.264</a:t>
                      </a:r>
                    </a:p>
                  </a:txBody>
                  <a:tcPr marL="9525" marR="9525" marT="9525" marB="0" anchor="b">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885212671"/>
                  </a:ext>
                </a:extLst>
              </a:tr>
              <a:tr h="254469">
                <a:tc vMerge="1">
                  <a:txBody>
                    <a:bodyPr/>
                    <a:lstStyle/>
                    <a:p>
                      <a:endParaRPr lang="en-SG"/>
                    </a:p>
                  </a:txBody>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(0.297)</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(0.269)</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(0.725)</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(0.543)</a:t>
                      </a:r>
                    </a:p>
                  </a:txBody>
                  <a:tcPr marL="9525" marR="9525" marT="9525" marB="0" anchor="b">
                    <a:lnL>
                      <a:noFill/>
                    </a:lnL>
                    <a:lnR>
                      <a:noFill/>
                    </a:lnR>
                    <a:lnT>
                      <a:noFill/>
                    </a:lnT>
                    <a:lnB>
                      <a:noFill/>
                    </a:lnB>
                  </a:tcPr>
                </a:tc>
                <a:extLst>
                  <a:ext uri="{0D108BD9-81ED-4DB2-BD59-A6C34878D82A}">
                    <a16:rowId xmlns:a16="http://schemas.microsoft.com/office/drawing/2014/main" val="851649019"/>
                  </a:ext>
                </a:extLst>
              </a:tr>
              <a:tr h="254469">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Times New Roman" panose="02020603050405020304" pitchFamily="18" charset="0"/>
                        </a:rPr>
                        <a:t>2</a:t>
                      </a:r>
                      <a:r>
                        <a:rPr lang="en-US" sz="1400" b="0" i="0" u="none" strike="noStrike" baseline="30000" dirty="0">
                          <a:solidFill>
                            <a:srgbClr val="000000"/>
                          </a:solidFill>
                          <a:effectLst/>
                          <a:latin typeface="Times New Roman" panose="02020603050405020304" pitchFamily="18" charset="0"/>
                        </a:rPr>
                        <a:t>nd</a:t>
                      </a:r>
                      <a:r>
                        <a:rPr lang="en-US" sz="1400" b="0" i="0" u="none" strike="noStrike" dirty="0">
                          <a:solidFill>
                            <a:srgbClr val="000000"/>
                          </a:solidFill>
                          <a:effectLst/>
                          <a:latin typeface="Times New Roman" panose="02020603050405020304" pitchFamily="18" charset="0"/>
                        </a:rPr>
                        <a:t> half</a:t>
                      </a:r>
                      <a:endParaRPr lang="en-US" altLang="zh-CN"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0.218**</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0.218**</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-0.559**</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-0.559**</a:t>
                      </a:r>
                    </a:p>
                  </a:txBody>
                  <a:tcPr marL="9525" marR="9525" marT="9525" marB="0" anchor="b">
                    <a:lnL>
                      <a:noFill/>
                    </a:lnL>
                    <a:lnR>
                      <a:noFill/>
                    </a:lnR>
                    <a:lnT>
                      <a:noFill/>
                    </a:lnT>
                    <a:lnB>
                      <a:noFill/>
                    </a:lnB>
                  </a:tcPr>
                </a:tc>
                <a:extLst>
                  <a:ext uri="{0D108BD9-81ED-4DB2-BD59-A6C34878D82A}">
                    <a16:rowId xmlns:a16="http://schemas.microsoft.com/office/drawing/2014/main" val="3342610470"/>
                  </a:ext>
                </a:extLst>
              </a:tr>
              <a:tr h="281081">
                <a:tc vMerge="1">
                  <a:txBody>
                    <a:bodyPr/>
                    <a:lstStyle/>
                    <a:p>
                      <a:endParaRPr dirty="0"/>
                    </a:p>
                  </a:txBody>
                  <a:tcPr marL="9525" marR="9525" marT="9525" marB="0" anchor="ctr">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(0.0890)</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(0.0902)</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(0.213)</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(0.216)</a:t>
                      </a:r>
                    </a:p>
                  </a:txBody>
                  <a:tcPr marL="9525" marR="9525" marT="9525" marB="0" anchor="b">
                    <a:lnL>
                      <a:noFill/>
                    </a:lnL>
                    <a:lnR>
                      <a:noFill/>
                    </a:lnR>
                    <a:lnT>
                      <a:noFill/>
                    </a:lnT>
                    <a:lnB>
                      <a:noFill/>
                    </a:lnB>
                  </a:tcPr>
                </a:tc>
                <a:extLst>
                  <a:ext uri="{0D108BD9-81ED-4DB2-BD59-A6C34878D82A}">
                    <a16:rowId xmlns:a16="http://schemas.microsoft.com/office/drawing/2014/main" val="1190420692"/>
                  </a:ext>
                </a:extLst>
              </a:tr>
              <a:tr h="254469">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400" b="0" i="0" u="none" strike="noStrike" dirty="0">
                          <a:solidFill>
                            <a:srgbClr val="000000"/>
                          </a:solidFill>
                          <a:effectLst/>
                          <a:latin typeface="Times New Roman" panose="02020603050405020304" pitchFamily="18" charset="0"/>
                        </a:rPr>
                        <a:t>Dark × </a:t>
                      </a:r>
                      <a:r>
                        <a:rPr lang="en-US" sz="1400" b="0" i="0" u="none" strike="noStrike" dirty="0">
                          <a:solidFill>
                            <a:srgbClr val="000000"/>
                          </a:solidFill>
                          <a:effectLst/>
                          <a:latin typeface="Times New Roman" panose="02020603050405020304" pitchFamily="18" charset="0"/>
                        </a:rPr>
                        <a:t>2</a:t>
                      </a:r>
                      <a:r>
                        <a:rPr lang="en-US" sz="1400" b="0" i="0" u="none" strike="noStrike" baseline="30000" dirty="0">
                          <a:solidFill>
                            <a:srgbClr val="000000"/>
                          </a:solidFill>
                          <a:effectLst/>
                          <a:latin typeface="Times New Roman" panose="02020603050405020304" pitchFamily="18" charset="0"/>
                        </a:rPr>
                        <a:t>nd</a:t>
                      </a:r>
                      <a:r>
                        <a:rPr lang="en-US" sz="1400" b="0" i="0" u="none" strike="noStrike" dirty="0">
                          <a:solidFill>
                            <a:srgbClr val="000000"/>
                          </a:solidFill>
                          <a:effectLst/>
                          <a:latin typeface="Times New Roman" panose="02020603050405020304" pitchFamily="18" charset="0"/>
                        </a:rPr>
                        <a:t> half</a:t>
                      </a:r>
                      <a:endParaRPr lang="en-US" altLang="zh-CN" sz="14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-0.0436</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-0.0436</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-0.245</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-0.245</a:t>
                      </a:r>
                    </a:p>
                  </a:txBody>
                  <a:tcPr marL="9525" marR="9525" marT="9525" marB="0" anchor="b">
                    <a:lnL>
                      <a:noFill/>
                    </a:lnL>
                    <a:lnR>
                      <a:noFill/>
                    </a:lnR>
                    <a:lnT>
                      <a:noFill/>
                    </a:lnT>
                    <a:lnB>
                      <a:noFill/>
                    </a:lnB>
                  </a:tcPr>
                </a:tc>
                <a:extLst>
                  <a:ext uri="{0D108BD9-81ED-4DB2-BD59-A6C34878D82A}">
                    <a16:rowId xmlns:a16="http://schemas.microsoft.com/office/drawing/2014/main" val="1461482625"/>
                  </a:ext>
                </a:extLst>
              </a:tr>
              <a:tr h="254469">
                <a:tc vMerge="1">
                  <a:txBody>
                    <a:bodyPr/>
                    <a:lstStyle/>
                    <a:p>
                      <a:pPr algn="ctr" fontAlgn="ctr"/>
                      <a:endParaRPr lang="en-SG" sz="1200" b="0" i="0" u="none" strike="noStrike" dirty="0">
                        <a:solidFill>
                          <a:srgbClr val="000000"/>
                        </a:solidFill>
                        <a:effectLst/>
                        <a:latin typeface="Times New Roman" panose="02020603050405020304" pitchFamily="18" charset="0"/>
                      </a:endParaRPr>
                    </a:p>
                  </a:txBody>
                  <a:tcPr marL="9525" marR="9525" marT="9525" marB="0" anchor="ctr">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(0.295)</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(0.299)</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(0.438)</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(0.444)</a:t>
                      </a:r>
                    </a:p>
                  </a:txBody>
                  <a:tcPr marL="9525" marR="9525" marT="9525" marB="0" anchor="b">
                    <a:lnL>
                      <a:noFill/>
                    </a:lnL>
                    <a:lnR>
                      <a:noFill/>
                    </a:lnR>
                    <a:lnT>
                      <a:noFill/>
                    </a:lnT>
                    <a:lnB>
                      <a:noFill/>
                    </a:lnB>
                  </a:tcPr>
                </a:tc>
                <a:extLst>
                  <a:ext uri="{0D108BD9-81ED-4DB2-BD59-A6C34878D82A}">
                    <a16:rowId xmlns:a16="http://schemas.microsoft.com/office/drawing/2014/main" val="4254727090"/>
                  </a:ext>
                </a:extLst>
              </a:tr>
              <a:tr h="254469">
                <a:tc rowSpan="2">
                  <a:txBody>
                    <a:bodyPr/>
                    <a:lstStyle/>
                    <a:p>
                      <a:pPr algn="ctr" fontAlgn="ctr"/>
                      <a:r>
                        <a:rPr lang="en-SG" sz="1400" b="0" i="0" u="none" strike="noStrike" dirty="0">
                          <a:solidFill>
                            <a:srgbClr val="000000"/>
                          </a:solidFill>
                          <a:effectLst/>
                          <a:latin typeface="Times New Roman" panose="02020603050405020304" pitchFamily="18" charset="0"/>
                        </a:rPr>
                        <a:t>Age</a:t>
                      </a:r>
                    </a:p>
                  </a:txBody>
                  <a:tcPr marL="9525" marR="9525" marT="9525" marB="0" anchor="ctr">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-0.336</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-0.249</a:t>
                      </a:r>
                    </a:p>
                  </a:txBody>
                  <a:tcPr marL="9525" marR="9525" marT="9525" marB="0" anchor="b">
                    <a:lnL>
                      <a:noFill/>
                    </a:lnL>
                    <a:lnR>
                      <a:noFill/>
                    </a:lnR>
                    <a:lnT>
                      <a:noFill/>
                    </a:lnT>
                    <a:lnB>
                      <a:noFill/>
                    </a:lnB>
                  </a:tcPr>
                </a:tc>
                <a:extLst>
                  <a:ext uri="{0D108BD9-81ED-4DB2-BD59-A6C34878D82A}">
                    <a16:rowId xmlns:a16="http://schemas.microsoft.com/office/drawing/2014/main" val="4069950910"/>
                  </a:ext>
                </a:extLst>
              </a:tr>
              <a:tr h="254469">
                <a:tc vMerge="1">
                  <a:txBody>
                    <a:bodyPr/>
                    <a:lstStyle/>
                    <a:p>
                      <a:endParaRPr lang="en-SG"/>
                    </a:p>
                  </a:txBody>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(0.237)</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(0.341)</a:t>
                      </a:r>
                    </a:p>
                  </a:txBody>
                  <a:tcPr marL="9525" marR="9525" marT="9525" marB="0" anchor="b">
                    <a:lnL>
                      <a:noFill/>
                    </a:lnL>
                    <a:lnR>
                      <a:noFill/>
                    </a:lnR>
                    <a:lnT>
                      <a:noFill/>
                    </a:lnT>
                    <a:lnB>
                      <a:noFill/>
                    </a:lnB>
                  </a:tcPr>
                </a:tc>
                <a:extLst>
                  <a:ext uri="{0D108BD9-81ED-4DB2-BD59-A6C34878D82A}">
                    <a16:rowId xmlns:a16="http://schemas.microsoft.com/office/drawing/2014/main" val="1946014223"/>
                  </a:ext>
                </a:extLst>
              </a:tr>
              <a:tr h="254469">
                <a:tc rowSpan="2">
                  <a:txBody>
                    <a:bodyPr/>
                    <a:lstStyle/>
                    <a:p>
                      <a:pPr algn="ctr" fontAlgn="ctr"/>
                      <a:r>
                        <a:rPr lang="en-SG" sz="1400" b="0" i="0" u="none" strike="noStrike" dirty="0">
                          <a:solidFill>
                            <a:srgbClr val="000000"/>
                          </a:solidFill>
                          <a:effectLst/>
                          <a:latin typeface="Times New Roman" panose="02020603050405020304" pitchFamily="18" charset="0"/>
                        </a:rPr>
                        <a:t>Gender</a:t>
                      </a:r>
                    </a:p>
                  </a:txBody>
                  <a:tcPr marL="9525" marR="9525" marT="9525" marB="0" anchor="ctr">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-5.555*</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9.349***</a:t>
                      </a:r>
                    </a:p>
                  </a:txBody>
                  <a:tcPr marL="9525" marR="9525" marT="9525" marB="0" anchor="b">
                    <a:lnL>
                      <a:noFill/>
                    </a:lnL>
                    <a:lnR>
                      <a:noFill/>
                    </a:lnR>
                    <a:lnT>
                      <a:noFill/>
                    </a:lnT>
                    <a:lnB>
                      <a:noFill/>
                    </a:lnB>
                  </a:tcPr>
                </a:tc>
                <a:extLst>
                  <a:ext uri="{0D108BD9-81ED-4DB2-BD59-A6C34878D82A}">
                    <a16:rowId xmlns:a16="http://schemas.microsoft.com/office/drawing/2014/main" val="39704544"/>
                  </a:ext>
                </a:extLst>
              </a:tr>
              <a:tr h="254469">
                <a:tc vMerge="1">
                  <a:txBody>
                    <a:bodyPr/>
                    <a:lstStyle/>
                    <a:p>
                      <a:endParaRPr lang="en-SG"/>
                    </a:p>
                  </a:txBody>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(2.889)</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(1.854)</a:t>
                      </a:r>
                    </a:p>
                  </a:txBody>
                  <a:tcPr marL="9525" marR="9525" marT="9525" marB="0" anchor="b">
                    <a:lnL>
                      <a:noFill/>
                    </a:lnL>
                    <a:lnR>
                      <a:noFill/>
                    </a:lnR>
                    <a:lnT>
                      <a:noFill/>
                    </a:lnT>
                    <a:lnB>
                      <a:noFill/>
                    </a:lnB>
                  </a:tcPr>
                </a:tc>
                <a:extLst>
                  <a:ext uri="{0D108BD9-81ED-4DB2-BD59-A6C34878D82A}">
                    <a16:rowId xmlns:a16="http://schemas.microsoft.com/office/drawing/2014/main" val="50295118"/>
                  </a:ext>
                </a:extLst>
              </a:tr>
              <a:tr h="254469">
                <a:tc rowSpan="2">
                  <a:txBody>
                    <a:bodyPr/>
                    <a:lstStyle/>
                    <a:p>
                      <a:pPr algn="ctr" fontAlgn="ctr"/>
                      <a:r>
                        <a:rPr lang="en-SG" sz="1400" b="0" i="0" u="none" strike="noStrike" dirty="0">
                          <a:solidFill>
                            <a:srgbClr val="000000"/>
                          </a:solidFill>
                          <a:effectLst/>
                          <a:latin typeface="Times New Roman" panose="02020603050405020304" pitchFamily="18" charset="0"/>
                        </a:rPr>
                        <a:t>Major in Econ</a:t>
                      </a:r>
                    </a:p>
                  </a:txBody>
                  <a:tcPr marL="9525" marR="9525" marT="9525" marB="0" anchor="ctr">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2.853</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-10.22***</a:t>
                      </a:r>
                    </a:p>
                  </a:txBody>
                  <a:tcPr marL="9525" marR="9525" marT="9525" marB="0" anchor="b">
                    <a:lnL>
                      <a:noFill/>
                    </a:lnL>
                    <a:lnR>
                      <a:noFill/>
                    </a:lnR>
                    <a:lnT>
                      <a:noFill/>
                    </a:lnT>
                    <a:lnB>
                      <a:noFill/>
                    </a:lnB>
                  </a:tcPr>
                </a:tc>
                <a:extLst>
                  <a:ext uri="{0D108BD9-81ED-4DB2-BD59-A6C34878D82A}">
                    <a16:rowId xmlns:a16="http://schemas.microsoft.com/office/drawing/2014/main" val="3354372371"/>
                  </a:ext>
                </a:extLst>
              </a:tr>
              <a:tr h="254469">
                <a:tc vMerge="1">
                  <a:txBody>
                    <a:bodyPr/>
                    <a:lstStyle/>
                    <a:p>
                      <a:endParaRPr lang="en-SG"/>
                    </a:p>
                  </a:txBody>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(2.021)</a:t>
                      </a:r>
                    </a:p>
                  </a:txBody>
                  <a:tcPr marL="9525" marR="9525" marT="9525" marB="0" anchor="b">
                    <a:lnL>
                      <a:noFill/>
                    </a:lnL>
                    <a:lnR>
                      <a:noFill/>
                    </a:lnR>
                    <a:lnT>
                      <a:noFill/>
                    </a:lnT>
                    <a:lnB>
                      <a:noFill/>
                    </a:lnB>
                  </a:tcPr>
                </a:tc>
                <a:tc>
                  <a:txBody>
                    <a:bodyPr/>
                    <a:lstStyle/>
                    <a:p>
                      <a:pPr algn="ctr" fontAlgn="b">
                        <a:buNone/>
                      </a:pPr>
                      <a:endParaRPr lang="en-CN" sz="1400" b="0" i="0" u="none" strike="noStrike" dirty="0">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(1.884)</a:t>
                      </a:r>
                    </a:p>
                  </a:txBody>
                  <a:tcPr marL="9525" marR="9525" marT="9525" marB="0" anchor="b">
                    <a:lnL>
                      <a:noFill/>
                    </a:lnL>
                    <a:lnR>
                      <a:noFill/>
                    </a:lnR>
                    <a:lnT>
                      <a:noFill/>
                    </a:lnT>
                    <a:lnB>
                      <a:noFill/>
                    </a:lnB>
                  </a:tcPr>
                </a:tc>
                <a:extLst>
                  <a:ext uri="{0D108BD9-81ED-4DB2-BD59-A6C34878D82A}">
                    <a16:rowId xmlns:a16="http://schemas.microsoft.com/office/drawing/2014/main" val="875227641"/>
                  </a:ext>
                </a:extLst>
              </a:tr>
              <a:tr h="254469">
                <a:tc rowSpan="2">
                  <a:txBody>
                    <a:bodyPr/>
                    <a:lstStyle/>
                    <a:p>
                      <a:pPr algn="ctr" fontAlgn="ctr"/>
                      <a:r>
                        <a:rPr lang="en-SG" sz="1400" b="0" i="0" u="none" strike="noStrike" dirty="0">
                          <a:solidFill>
                            <a:srgbClr val="000000"/>
                          </a:solidFill>
                          <a:effectLst/>
                          <a:latin typeface="Times New Roman" panose="02020603050405020304" pitchFamily="18" charset="0"/>
                        </a:rPr>
                        <a:t>Risk Aversion</a:t>
                      </a:r>
                    </a:p>
                  </a:txBody>
                  <a:tcPr marL="9525" marR="9525" marT="9525" marB="0" anchor="ctr">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-0.0205</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-1.769***</a:t>
                      </a:r>
                    </a:p>
                  </a:txBody>
                  <a:tcPr marL="9525" marR="9525" marT="9525" marB="0" anchor="b">
                    <a:lnL>
                      <a:noFill/>
                    </a:lnL>
                    <a:lnR>
                      <a:noFill/>
                    </a:lnR>
                    <a:lnT>
                      <a:noFill/>
                    </a:lnT>
                    <a:lnB>
                      <a:noFill/>
                    </a:lnB>
                  </a:tcPr>
                </a:tc>
                <a:extLst>
                  <a:ext uri="{0D108BD9-81ED-4DB2-BD59-A6C34878D82A}">
                    <a16:rowId xmlns:a16="http://schemas.microsoft.com/office/drawing/2014/main" val="1511749853"/>
                  </a:ext>
                </a:extLst>
              </a:tr>
              <a:tr h="254469">
                <a:tc vMerge="1">
                  <a:txBody>
                    <a:bodyPr/>
                    <a:lstStyle/>
                    <a:p>
                      <a:endParaRPr lang="en-SG"/>
                    </a:p>
                  </a:txBody>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(0.132)</a:t>
                      </a:r>
                    </a:p>
                  </a:txBody>
                  <a:tcPr marL="9525" marR="9525" marT="9525" marB="0" anchor="b">
                    <a:lnL>
                      <a:noFill/>
                    </a:lnL>
                    <a:lnR>
                      <a:noFill/>
                    </a:lnR>
                    <a:lnT>
                      <a:noFill/>
                    </a:lnT>
                    <a:lnB>
                      <a:noFill/>
                    </a:lnB>
                  </a:tcPr>
                </a:tc>
                <a:tc>
                  <a:txBody>
                    <a:bodyPr/>
                    <a:lstStyle/>
                    <a:p>
                      <a:pPr algn="ctr" fontAlgn="b">
                        <a:buNone/>
                      </a:pPr>
                      <a:endParaRPr lang="en-CN" sz="1400" b="0" i="0" u="none" strike="noStrike">
                        <a:effectLst/>
                        <a:latin typeface="Times New Roman" panose="02020603050405020304" pitchFamily="18" charset="0"/>
                        <a:cs typeface="Times New Roman" panose="02020603050405020304" pitchFamily="18" charset="0"/>
                      </a:endParaRP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(0.449)</a:t>
                      </a:r>
                    </a:p>
                  </a:txBody>
                  <a:tcPr marL="9525" marR="9525" marT="9525" marB="0" anchor="b">
                    <a:lnL>
                      <a:noFill/>
                    </a:lnL>
                    <a:lnR>
                      <a:noFill/>
                    </a:lnR>
                    <a:lnT>
                      <a:noFill/>
                    </a:lnT>
                    <a:lnB>
                      <a:noFill/>
                    </a:lnB>
                  </a:tcPr>
                </a:tc>
                <a:extLst>
                  <a:ext uri="{0D108BD9-81ED-4DB2-BD59-A6C34878D82A}">
                    <a16:rowId xmlns:a16="http://schemas.microsoft.com/office/drawing/2014/main" val="4211464088"/>
                  </a:ext>
                </a:extLst>
              </a:tr>
              <a:tr h="254469">
                <a:tc rowSpan="2">
                  <a:txBody>
                    <a:bodyPr/>
                    <a:lstStyle/>
                    <a:p>
                      <a:pPr algn="ctr" fontAlgn="ctr"/>
                      <a:r>
                        <a:rPr lang="en-SG" sz="1400" b="0" i="0" u="none" strike="noStrike" dirty="0">
                          <a:solidFill>
                            <a:srgbClr val="000000"/>
                          </a:solidFill>
                          <a:effectLst/>
                          <a:latin typeface="Times New Roman" panose="02020603050405020304" pitchFamily="18" charset="0"/>
                        </a:rPr>
                        <a:t>Constant</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2.700***</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11.96</a:t>
                      </a:r>
                    </a:p>
                  </a:txBody>
                  <a:tcPr marL="9525" marR="9525" marT="9525" marB="0" anchor="b">
                    <a:lnL>
                      <a:noFill/>
                    </a:lnL>
                    <a:lnR>
                      <a:noFill/>
                    </a:lnR>
                    <a:lnT>
                      <a:noFill/>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2.283***</a:t>
                      </a:r>
                    </a:p>
                  </a:txBody>
                  <a:tcPr marL="9525" marR="9525" marT="9525" marB="0" anchor="b">
                    <a:lnL>
                      <a:noFill/>
                    </a:lnL>
                    <a:lnR>
                      <a:noFill/>
                    </a:lnR>
                    <a:lnT>
                      <a:noFill/>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19.99*</a:t>
                      </a:r>
                    </a:p>
                  </a:txBody>
                  <a:tcPr marL="9525" marR="9525" marT="9525" marB="0" anchor="b">
                    <a:lnL>
                      <a:noFill/>
                    </a:lnL>
                    <a:lnR>
                      <a:noFill/>
                    </a:lnR>
                    <a:lnT>
                      <a:noFill/>
                    </a:lnT>
                    <a:lnB>
                      <a:noFill/>
                    </a:lnB>
                  </a:tcPr>
                </a:tc>
                <a:extLst>
                  <a:ext uri="{0D108BD9-81ED-4DB2-BD59-A6C34878D82A}">
                    <a16:rowId xmlns:a16="http://schemas.microsoft.com/office/drawing/2014/main" val="2006854650"/>
                  </a:ext>
                </a:extLst>
              </a:tr>
              <a:tr h="254469">
                <a:tc vMerge="1">
                  <a:txBody>
                    <a:bodyPr/>
                    <a:lstStyle/>
                    <a:p>
                      <a:endParaRPr lang="en-SG"/>
                    </a:p>
                  </a:txBody>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(0.216)</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(6.499)</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(0.595)</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(8.740)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0850733"/>
                  </a:ext>
                </a:extLst>
              </a:tr>
              <a:tr h="254469">
                <a:tc>
                  <a:txBody>
                    <a:bodyPr/>
                    <a:lstStyle/>
                    <a:p>
                      <a:pPr algn="ctr" fontAlgn="ctr"/>
                      <a:r>
                        <a:rPr lang="en-SG" sz="1400" b="0" i="0" u="none" strike="noStrike" dirty="0">
                          <a:solidFill>
                            <a:srgbClr val="000000"/>
                          </a:solidFill>
                          <a:effectLst/>
                          <a:latin typeface="Times New Roman" panose="02020603050405020304" pitchFamily="18" charset="0"/>
                        </a:rPr>
                        <a:t>Observations</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160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160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160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160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242698027"/>
                  </a:ext>
                </a:extLst>
              </a:tr>
              <a:tr h="246868">
                <a:tc>
                  <a:txBody>
                    <a:bodyPr/>
                    <a:lstStyle/>
                    <a:p>
                      <a:pPr algn="ctr" fontAlgn="ctr"/>
                      <a:r>
                        <a:rPr lang="en-SG" sz="1400" b="0" i="0" u="none" strike="noStrike">
                          <a:solidFill>
                            <a:srgbClr val="000000"/>
                          </a:solidFill>
                          <a:effectLst/>
                          <a:latin typeface="Times New Roman" panose="02020603050405020304" pitchFamily="18" charset="0"/>
                        </a:rPr>
                        <a:t>Clusters</a:t>
                      </a:r>
                    </a:p>
                  </a:txBody>
                  <a:tcPr marL="9525" marR="9525" marT="9525" marB="0" anchor="ctr">
                    <a:lnL>
                      <a:noFill/>
                    </a:lnL>
                    <a:lnR>
                      <a:noFill/>
                    </a:lnR>
                    <a:lnT>
                      <a:noFill/>
                    </a:lnT>
                    <a:lnB>
                      <a:noFill/>
                    </a:lnB>
                  </a:tcPr>
                </a:tc>
                <a:tc>
                  <a:txBody>
                    <a:bodyPr/>
                    <a:lstStyle/>
                    <a:p>
                      <a:pPr algn="ctr" fontAlgn="ctr"/>
                      <a:r>
                        <a:rPr lang="en-SG" sz="14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8</a:t>
                      </a:r>
                      <a:endPar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8</a:t>
                      </a:r>
                      <a:endPar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txBody>
                  <a:tcPr marL="9525" marR="9525" marT="9525" marB="0" anchor="ctr">
                    <a:lnL>
                      <a:noFill/>
                    </a:lnL>
                    <a:lnR>
                      <a:noFill/>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8</a:t>
                      </a:r>
                    </a:p>
                  </a:txBody>
                  <a:tcPr marL="9525" marR="9525" marT="9525" marB="0" anchor="ctr">
                    <a:lnL>
                      <a:noFill/>
                    </a:lnL>
                    <a:lnR>
                      <a:noFill/>
                    </a:lnR>
                    <a:lnT>
                      <a:noFill/>
                    </a:lnT>
                    <a:lnB>
                      <a:noFill/>
                    </a:lnB>
                  </a:tcPr>
                </a:tc>
                <a:extLst>
                  <a:ext uri="{0D108BD9-81ED-4DB2-BD59-A6C34878D82A}">
                    <a16:rowId xmlns:a16="http://schemas.microsoft.com/office/drawing/2014/main" val="2973226779"/>
                  </a:ext>
                </a:extLst>
              </a:tr>
              <a:tr h="168812">
                <a:tc>
                  <a:txBody>
                    <a:bodyPr/>
                    <a:lstStyle/>
                    <a:p>
                      <a:pPr algn="ctr" fontAlgn="ctr"/>
                      <a:r>
                        <a:rPr lang="en-SG" sz="1400" b="0" i="0" u="none" strike="noStrike" dirty="0">
                          <a:solidFill>
                            <a:srgbClr val="000000"/>
                          </a:solidFill>
                          <a:effectLst/>
                          <a:latin typeface="Times New Roman" panose="02020603050405020304" pitchFamily="18" charset="0"/>
                        </a:rPr>
                        <a:t>R-squared</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0.046</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0.059</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a:effectLst/>
                          <a:latin typeface="Times New Roman" panose="02020603050405020304" pitchFamily="18" charset="0"/>
                          <a:cs typeface="Times New Roman" panose="02020603050405020304" pitchFamily="18" charset="0"/>
                        </a:rPr>
                        <a:t>0.053</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en-CN" sz="1400" b="0" i="0" u="none" strike="noStrike" dirty="0">
                          <a:effectLst/>
                          <a:latin typeface="Times New Roman" panose="02020603050405020304" pitchFamily="18" charset="0"/>
                          <a:cs typeface="Times New Roman" panose="02020603050405020304" pitchFamily="18" charset="0"/>
                        </a:rPr>
                        <a:t>0.181</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294328"/>
                  </a:ext>
                </a:extLst>
              </a:tr>
            </a:tbl>
          </a:graphicData>
        </a:graphic>
      </p:graphicFrame>
      <p:sp>
        <p:nvSpPr>
          <p:cNvPr id="6" name="TextBox 5">
            <a:extLst>
              <a:ext uri="{FF2B5EF4-FFF2-40B4-BE49-F238E27FC236}">
                <a16:creationId xmlns:a16="http://schemas.microsoft.com/office/drawing/2014/main" id="{7DF2AF84-870F-10D2-8D15-1C49DF462A3D}"/>
              </a:ext>
            </a:extLst>
          </p:cNvPr>
          <p:cNvSpPr txBox="1"/>
          <p:nvPr/>
        </p:nvSpPr>
        <p:spPr>
          <a:xfrm>
            <a:off x="1589651" y="261896"/>
            <a:ext cx="5852159"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Table VI OLS Regression of LAD in</a:t>
            </a:r>
            <a:r>
              <a:rPr lang="zh-CN" altLang="en-US"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the </a:t>
            </a:r>
            <a:r>
              <a:rPr lang="en-US" altLang="zh-CN" b="1" dirty="0">
                <a:latin typeface="Times New Roman" panose="02020603050405020304" pitchFamily="18" charset="0"/>
                <a:cs typeface="Times New Roman" panose="02020603050405020304" pitchFamily="18" charset="0"/>
              </a:rPr>
              <a:t>Lit Market (exog)</a:t>
            </a:r>
            <a:endParaRPr lang="en-CN" dirty="0"/>
          </a:p>
        </p:txBody>
      </p:sp>
    </p:spTree>
    <p:extLst>
      <p:ext uri="{BB962C8B-B14F-4D97-AF65-F5344CB8AC3E}">
        <p14:creationId xmlns:p14="http://schemas.microsoft.com/office/powerpoint/2010/main" val="836269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D2122-A10E-CD57-DAC3-5F4B1992A29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701855-F366-17D5-AC81-5CE2468F1734}"/>
              </a:ext>
            </a:extLst>
          </p:cNvPr>
          <p:cNvSpPr>
            <a:spLocks noGrp="1"/>
          </p:cNvSpPr>
          <p:nvPr>
            <p:ph type="sldNum" sz="quarter" idx="12"/>
          </p:nvPr>
        </p:nvSpPr>
        <p:spPr/>
        <p:txBody>
          <a:bodyPr/>
          <a:lstStyle/>
          <a:p>
            <a:fld id="{9D1E5884-00E0-43AD-8B56-46510891432D}" type="slidenum">
              <a:rPr lang="en-SG" smtClean="0"/>
              <a:t>5</a:t>
            </a:fld>
            <a:endParaRPr lang="en-SG"/>
          </a:p>
        </p:txBody>
      </p:sp>
      <p:pic>
        <p:nvPicPr>
          <p:cNvPr id="6" name="Picture 5">
            <a:extLst>
              <a:ext uri="{FF2B5EF4-FFF2-40B4-BE49-F238E27FC236}">
                <a16:creationId xmlns:a16="http://schemas.microsoft.com/office/drawing/2014/main" id="{4CE9889F-CBB9-D659-09FB-4A054B0EAE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38301" y="755650"/>
            <a:ext cx="7772398" cy="4661224"/>
          </a:xfrm>
          <a:prstGeom prst="rect">
            <a:avLst/>
          </a:prstGeom>
        </p:spPr>
      </p:pic>
      <p:sp>
        <p:nvSpPr>
          <p:cNvPr id="2" name="TextBox 1">
            <a:extLst>
              <a:ext uri="{FF2B5EF4-FFF2-40B4-BE49-F238E27FC236}">
                <a16:creationId xmlns:a16="http://schemas.microsoft.com/office/drawing/2014/main" id="{41150F43-9AAB-5401-24DB-439730C3233D}"/>
              </a:ext>
            </a:extLst>
          </p:cNvPr>
          <p:cNvSpPr txBox="1"/>
          <p:nvPr/>
        </p:nvSpPr>
        <p:spPr>
          <a:xfrm>
            <a:off x="4966116" y="355540"/>
            <a:ext cx="1116768"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exog</a:t>
            </a:r>
            <a:endParaRPr lang="en-CN" sz="2000" dirty="0"/>
          </a:p>
        </p:txBody>
      </p:sp>
    </p:spTree>
    <p:extLst>
      <p:ext uri="{BB962C8B-B14F-4D97-AF65-F5344CB8AC3E}">
        <p14:creationId xmlns:p14="http://schemas.microsoft.com/office/powerpoint/2010/main" val="3540146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219BE-AC22-0888-9843-7FCF98C0FCD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FD6768-17E6-8022-7B18-D5778E64BE1B}"/>
              </a:ext>
            </a:extLst>
          </p:cNvPr>
          <p:cNvSpPr>
            <a:spLocks noGrp="1"/>
          </p:cNvSpPr>
          <p:nvPr>
            <p:ph type="sldNum" sz="quarter" idx="12"/>
          </p:nvPr>
        </p:nvSpPr>
        <p:spPr/>
        <p:txBody>
          <a:bodyPr/>
          <a:lstStyle/>
          <a:p>
            <a:fld id="{9D1E5884-00E0-43AD-8B56-46510891432D}" type="slidenum">
              <a:rPr lang="en-SG" smtClean="0"/>
              <a:t>6</a:t>
            </a:fld>
            <a:endParaRPr lang="en-SG"/>
          </a:p>
        </p:txBody>
      </p:sp>
      <p:pic>
        <p:nvPicPr>
          <p:cNvPr id="6" name="Picture 5">
            <a:extLst>
              <a:ext uri="{FF2B5EF4-FFF2-40B4-BE49-F238E27FC236}">
                <a16:creationId xmlns:a16="http://schemas.microsoft.com/office/drawing/2014/main" id="{59C83F16-26A2-CD7F-3614-632C98FC138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61526" y="873711"/>
            <a:ext cx="8521676" cy="5110577"/>
          </a:xfrm>
          <a:prstGeom prst="rect">
            <a:avLst/>
          </a:prstGeom>
        </p:spPr>
      </p:pic>
      <p:sp>
        <p:nvSpPr>
          <p:cNvPr id="2" name="TextBox 1">
            <a:extLst>
              <a:ext uri="{FF2B5EF4-FFF2-40B4-BE49-F238E27FC236}">
                <a16:creationId xmlns:a16="http://schemas.microsoft.com/office/drawing/2014/main" id="{CE07533C-E699-4656-2AF9-54A659BC20FA}"/>
              </a:ext>
            </a:extLst>
          </p:cNvPr>
          <p:cNvSpPr txBox="1"/>
          <p:nvPr/>
        </p:nvSpPr>
        <p:spPr>
          <a:xfrm>
            <a:off x="4763980" y="501649"/>
            <a:ext cx="1116768"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exog</a:t>
            </a:r>
            <a:endParaRPr lang="en-CN" sz="2000" dirty="0"/>
          </a:p>
        </p:txBody>
      </p:sp>
    </p:spTree>
    <p:extLst>
      <p:ext uri="{BB962C8B-B14F-4D97-AF65-F5344CB8AC3E}">
        <p14:creationId xmlns:p14="http://schemas.microsoft.com/office/powerpoint/2010/main" val="802613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6543BF-95FB-BAEF-CCFD-CA1CC7369847}"/>
              </a:ext>
            </a:extLst>
          </p:cNvPr>
          <p:cNvSpPr>
            <a:spLocks noGrp="1"/>
          </p:cNvSpPr>
          <p:nvPr>
            <p:ph type="sldNum" sz="quarter" idx="12"/>
          </p:nvPr>
        </p:nvSpPr>
        <p:spPr/>
        <p:txBody>
          <a:bodyPr/>
          <a:lstStyle/>
          <a:p>
            <a:fld id="{9D1E5884-00E0-43AD-8B56-46510891432D}" type="slidenum">
              <a:rPr lang="en-SG" smtClean="0"/>
              <a:t>7</a:t>
            </a:fld>
            <a:endParaRPr lang="en-SG"/>
          </a:p>
        </p:txBody>
      </p:sp>
      <p:pic>
        <p:nvPicPr>
          <p:cNvPr id="6" name="Picture 5">
            <a:extLst>
              <a:ext uri="{FF2B5EF4-FFF2-40B4-BE49-F238E27FC236}">
                <a16:creationId xmlns:a16="http://schemas.microsoft.com/office/drawing/2014/main" id="{5F900F6B-2897-5B6F-C8C3-F595001BE3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273" y="307622"/>
            <a:ext cx="10409538" cy="6242756"/>
          </a:xfrm>
          <a:prstGeom prst="rect">
            <a:avLst/>
          </a:prstGeom>
        </p:spPr>
      </p:pic>
    </p:spTree>
    <p:extLst>
      <p:ext uri="{BB962C8B-B14F-4D97-AF65-F5344CB8AC3E}">
        <p14:creationId xmlns:p14="http://schemas.microsoft.com/office/powerpoint/2010/main" val="2306318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842BE7-3694-2F61-076F-1DB29FFFE896}"/>
              </a:ext>
            </a:extLst>
          </p:cNvPr>
          <p:cNvSpPr>
            <a:spLocks noGrp="1"/>
          </p:cNvSpPr>
          <p:nvPr>
            <p:ph type="sldNum" sz="quarter" idx="12"/>
          </p:nvPr>
        </p:nvSpPr>
        <p:spPr/>
        <p:txBody>
          <a:bodyPr/>
          <a:lstStyle/>
          <a:p>
            <a:fld id="{9D1E5884-00E0-43AD-8B56-46510891432D}" type="slidenum">
              <a:rPr lang="en-SG" smtClean="0"/>
              <a:t>8</a:t>
            </a:fld>
            <a:endParaRPr lang="en-SG"/>
          </a:p>
        </p:txBody>
      </p:sp>
      <p:pic>
        <p:nvPicPr>
          <p:cNvPr id="5" name="Picture 4">
            <a:extLst>
              <a:ext uri="{FF2B5EF4-FFF2-40B4-BE49-F238E27FC236}">
                <a16:creationId xmlns:a16="http://schemas.microsoft.com/office/drawing/2014/main" id="{90FC5812-716F-35B2-67E1-9C41D4F07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590" y="265509"/>
            <a:ext cx="10156225" cy="6090841"/>
          </a:xfrm>
          <a:prstGeom prst="rect">
            <a:avLst/>
          </a:prstGeom>
        </p:spPr>
      </p:pic>
    </p:spTree>
    <p:extLst>
      <p:ext uri="{BB962C8B-B14F-4D97-AF65-F5344CB8AC3E}">
        <p14:creationId xmlns:p14="http://schemas.microsoft.com/office/powerpoint/2010/main" val="545808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1015</Words>
  <Application>Microsoft Macintosh PowerPoint</Application>
  <PresentationFormat>Widescreen</PresentationFormat>
  <Paragraphs>414</Paragraphs>
  <Slides>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 Wang</dc:creator>
  <cp:lastModifiedBy>Yan Wang</cp:lastModifiedBy>
  <cp:revision>1</cp:revision>
  <dcterms:created xsi:type="dcterms:W3CDTF">2026-05-12T06:12:36Z</dcterms:created>
  <dcterms:modified xsi:type="dcterms:W3CDTF">2026-05-12T06:12:48Z</dcterms:modified>
</cp:coreProperties>
</file>